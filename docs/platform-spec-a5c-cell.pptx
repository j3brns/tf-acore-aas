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spAutoFit/>
          </a:bodyPr>
          <a:lstStyle/>
          <a:p>
            <a:pPr algn="l">
              <a:defRPr sz="1600" b="0">
                <a:solidFill>
                  <a:srgbClr val="94A3B8"/>
                </a:solidFill>
                <a:latin typeface="Segoe UI"/>
              </a:defRPr>
            </a:pPr>
            <a:r>
              <a:t>a5c-cell</a:t>
            </a:r>
          </a:p>
        </p:txBody>
      </p:sp>
      <p:sp>
        <p:nvSpPr>
          <p:cNvPr id="3" name="TextBox 2"/>
          <p:cNvSpPr txBox="1"/>
          <p:nvPr/>
        </p:nvSpPr>
        <p:spPr>
          <a:xfrm>
            <a:off x="731520" y="1097280"/>
            <a:ext cx="10515600" cy="1097280"/>
          </a:xfrm>
          <a:prstGeom prst="rect">
            <a:avLst/>
          </a:prstGeom>
          <a:noFill/>
        </p:spPr>
        <p:txBody>
          <a:bodyPr wrap="square">
            <a:spAutoFit/>
          </a:bodyPr>
          <a:lstStyle/>
          <a:p>
            <a:pPr algn="l">
              <a:defRPr sz="5400" b="1">
                <a:solidFill>
                  <a:srgbClr val="FFFFFF"/>
                </a:solidFill>
                <a:latin typeface="Segoe UI"/>
              </a:defRPr>
            </a:pPr>
            <a:r>
              <a:t>Agent as a Service</a:t>
            </a:r>
          </a:p>
        </p:txBody>
      </p:sp>
      <p:sp>
        <p:nvSpPr>
          <p:cNvPr id="4" name="TextBox 3"/>
          <p:cNvSpPr txBox="1"/>
          <p:nvPr/>
        </p:nvSpPr>
        <p:spPr>
          <a:xfrm>
            <a:off x="731520" y="2377440"/>
            <a:ext cx="10515600" cy="731520"/>
          </a:xfrm>
          <a:prstGeom prst="rect">
            <a:avLst/>
          </a:prstGeom>
          <a:noFill/>
        </p:spPr>
        <p:txBody>
          <a:bodyPr wrap="square">
            <a:spAutoFit/>
          </a:bodyPr>
          <a:lstStyle/>
          <a:p>
            <a:pPr algn="l">
              <a:defRPr sz="3600" b="0">
                <a:solidFill>
                  <a:srgbClr val="3B82F6"/>
                </a:solidFill>
                <a:latin typeface="Segoe UI"/>
              </a:defRPr>
            </a:pPr>
            <a:r>
              <a:t>Platform Specification</a:t>
            </a:r>
          </a:p>
        </p:txBody>
      </p:sp>
      <p:sp>
        <p:nvSpPr>
          <p:cNvPr id="5" name="TextBox 4"/>
          <p:cNvSpPr txBox="1"/>
          <p:nvPr/>
        </p:nvSpPr>
        <p:spPr>
          <a:xfrm>
            <a:off x="731520" y="3657600"/>
            <a:ext cx="7315200" cy="2286000"/>
          </a:xfrm>
          <a:prstGeom prst="rect">
            <a:avLst/>
          </a:prstGeom>
          <a:noFill/>
        </p:spPr>
        <p:txBody>
          <a:bodyPr wrap="square">
            <a:spAutoFit/>
          </a:bodyPr>
          <a:lstStyle/>
          <a:p>
            <a:pPr>
              <a:spcAft>
                <a:spcPts val="400"/>
              </a:spcAft>
              <a:defRPr sz="1800" b="0">
                <a:solidFill>
                  <a:srgbClr val="CBD5E1"/>
                </a:solidFill>
                <a:latin typeface="Segoe UI"/>
              </a:defRPr>
            </a:pPr>
            <a:r>
              <a:t>A production multi-tenant platform on Amazon Bedrock AgentCore.</a:t>
            </a:r>
          </a:p>
          <a:p>
            <a:pPr>
              <a:spcAft>
                <a:spcPts val="400"/>
              </a:spcAft>
              <a:defRPr sz="1800" b="0">
                <a:solidFill>
                  <a:srgbClr val="CBD5E1"/>
                </a:solidFill>
                <a:latin typeface="Segoe UI"/>
              </a:defRPr>
            </a:pPr>
            <a:r>
              <a:t>B2B tenants invoke specialised AI agents through a governed REST API —</a:t>
            </a:r>
          </a:p>
          <a:p>
            <a:pPr>
              <a:spcAft>
                <a:spcPts val="400"/>
              </a:spcAft>
              <a:defRPr sz="1800" b="0">
                <a:solidFill>
                  <a:srgbClr val="CBD5E1"/>
                </a:solidFill>
                <a:latin typeface="Segoe UI"/>
              </a:defRPr>
            </a:pPr>
            <a:r>
              <a:t>the platform handles identity, isolation, memory, tool access, billing, and observability.</a:t>
            </a:r>
          </a:p>
          <a:p>
            <a:pPr>
              <a:spcAft>
                <a:spcPts val="400"/>
              </a:spcAft>
              <a:defRPr sz="1000" b="0">
                <a:solidFill>
                  <a:srgbClr val="CBD5E1"/>
                </a:solidFill>
                <a:latin typeface="Segoe UI"/>
              </a:defRPr>
            </a:pPr>
          </a:p>
          <a:p>
            <a:pPr>
              <a:spcAft>
                <a:spcPts val="400"/>
              </a:spcAft>
              <a:defRPr sz="1600" b="0">
                <a:solidFill>
                  <a:srgbClr val="14B8A6"/>
                </a:solidFill>
                <a:latin typeface="Segoe UI"/>
              </a:defRPr>
            </a:pPr>
            <a:r>
              <a:t>Every architectural decision documented.  Sixteen ADRs.  Ten runbooks.  Zero Cognito.</a:t>
            </a:r>
          </a:p>
        </p:txBody>
      </p:sp>
      <p:sp>
        <p:nvSpPr>
          <p:cNvPr id="6" name="TextBox 5"/>
          <p:cNvSpPr txBox="1"/>
          <p:nvPr/>
        </p:nvSpPr>
        <p:spPr>
          <a:xfrm>
            <a:off x="731520" y="5669280"/>
            <a:ext cx="5486400" cy="914400"/>
          </a:xfrm>
          <a:prstGeom prst="rect">
            <a:avLst/>
          </a:prstGeom>
          <a:noFill/>
        </p:spPr>
        <p:txBody>
          <a:bodyPr wrap="square">
            <a:spAutoFit/>
          </a:bodyPr>
          <a:lstStyle/>
          <a:p>
            <a:pPr>
              <a:spcAft>
                <a:spcPts val="400"/>
              </a:spcAft>
              <a:defRPr sz="1200" b="0">
                <a:solidFill>
                  <a:srgbClr val="94A3B8"/>
                </a:solidFill>
                <a:latin typeface="Segoe UI"/>
              </a:defRPr>
            </a:pPr>
            <a:r>
              <a:t>Version 1.0  ·  March 2026  ·  Engineering and Operations Baseline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What We Build — What AgentCore Manages</a:t>
            </a:r>
          </a:p>
        </p:txBody>
      </p:sp>
      <p:sp>
        <p:nvSpPr>
          <p:cNvPr id="3" name="TextBox 2"/>
          <p:cNvSpPr txBox="1"/>
          <p:nvPr/>
        </p:nvSpPr>
        <p:spPr>
          <a:xfrm>
            <a:off x="731520" y="1005840"/>
            <a:ext cx="10515600" cy="457200"/>
          </a:xfrm>
          <a:prstGeom prst="rect">
            <a:avLst/>
          </a:prstGeom>
          <a:noFill/>
        </p:spPr>
        <p:txBody>
          <a:bodyPr wrap="square">
            <a:spAutoFit/>
          </a:bodyPr>
          <a:lstStyle/>
          <a:p>
            <a:pPr algn="l">
              <a:defRPr sz="1500" b="0">
                <a:solidFill>
                  <a:srgbClr val="CBD5E1"/>
                </a:solidFill>
                <a:latin typeface="Segoe UI"/>
              </a:defRPr>
            </a:pPr>
            <a:r>
              <a:t>The platform builds everything AgentCore does not provide. The boundary is deliberate and documented.</a:t>
            </a:r>
          </a:p>
        </p:txBody>
      </p:sp>
      <p:sp>
        <p:nvSpPr>
          <p:cNvPr id="4" name="Rectangle 3"/>
          <p:cNvSpPr/>
          <p:nvPr/>
        </p:nvSpPr>
        <p:spPr>
          <a:xfrm>
            <a:off x="731520" y="173736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365760"/>
          </a:xfrm>
          <a:prstGeom prst="rect">
            <a:avLst/>
          </a:prstGeom>
          <a:noFill/>
        </p:spPr>
        <p:txBody>
          <a:bodyPr wrap="square">
            <a:spAutoFit/>
          </a:bodyPr>
          <a:lstStyle/>
          <a:p>
            <a:pPr algn="l">
              <a:defRPr sz="1400" b="1">
                <a:solidFill>
                  <a:srgbClr val="3B82F6"/>
                </a:solidFill>
                <a:latin typeface="Segoe UI"/>
              </a:defRPr>
            </a:pPr>
            <a:r>
              <a:t>PLATFORM BUILDS</a:t>
            </a:r>
          </a:p>
        </p:txBody>
      </p:sp>
      <p:sp>
        <p:nvSpPr>
          <p:cNvPr id="6" name="TextBox 5"/>
          <p:cNvSpPr txBox="1"/>
          <p:nvPr/>
        </p:nvSpPr>
        <p:spPr>
          <a:xfrm>
            <a:off x="914400" y="2286000"/>
            <a:ext cx="4754880" cy="3657600"/>
          </a:xfrm>
          <a:prstGeom prst="rect">
            <a:avLst/>
          </a:prstGeom>
          <a:noFill/>
        </p:spPr>
        <p:txBody>
          <a:bodyPr wrap="square">
            <a:spAutoFit/>
          </a:bodyPr>
          <a:lstStyle/>
          <a:p>
            <a:pPr>
              <a:spcAft>
                <a:spcPts val="400"/>
              </a:spcAft>
              <a:defRPr sz="1300" b="0">
                <a:solidFill>
                  <a:srgbClr val="FFFFFF"/>
                </a:solidFill>
                <a:latin typeface="Segoe UI"/>
              </a:defRPr>
            </a:pPr>
            <a:r>
              <a:t>Tenant-aware routing and invocation bridge</a:t>
            </a:r>
          </a:p>
          <a:p>
            <a:pPr>
              <a:spcAft>
                <a:spcPts val="400"/>
              </a:spcAft>
              <a:defRPr sz="1300" b="0">
                <a:solidFill>
                  <a:srgbClr val="FFFFFF"/>
                </a:solidFill>
                <a:latin typeface="Segoe UI"/>
              </a:defRPr>
            </a:pPr>
            <a:r>
              <a:t>Four-layer data isolation (authoriser, bridge STS, interceptors, data-access-lib)</a:t>
            </a:r>
          </a:p>
          <a:p>
            <a:pPr>
              <a:spcAft>
                <a:spcPts val="400"/>
              </a:spcAft>
              <a:defRPr sz="1300" b="0">
                <a:solidFill>
                  <a:srgbClr val="FFFFFF"/>
                </a:solidFill>
                <a:latin typeface="Segoe UI"/>
              </a:defRPr>
            </a:pPr>
            <a:r>
              <a:t>Entra ID OIDC authentication and RBAC</a:t>
            </a:r>
          </a:p>
          <a:p>
            <a:pPr>
              <a:spcAft>
                <a:spcPts val="400"/>
              </a:spcAft>
              <a:defRPr sz="1300" b="0">
                <a:solidFill>
                  <a:srgbClr val="FFFFFF"/>
                </a:solidFill>
                <a:latin typeface="Segoe UI"/>
              </a:defRPr>
            </a:pPr>
            <a:r>
              <a:t>Tier-based usage plans and billing attribution</a:t>
            </a:r>
          </a:p>
          <a:p>
            <a:pPr>
              <a:spcAft>
                <a:spcPts val="400"/>
              </a:spcAft>
              <a:defRPr sz="1300" b="0">
                <a:solidFill>
                  <a:srgbClr val="FFFFFF"/>
                </a:solidFill>
                <a:latin typeface="Segoe UI"/>
              </a:defRPr>
            </a:pPr>
            <a:r>
              <a:t>Control plane — tenant lifecycle, onboarding, suspension, GDPR deletion</a:t>
            </a:r>
          </a:p>
          <a:p>
            <a:pPr>
              <a:spcAft>
                <a:spcPts val="400"/>
              </a:spcAft>
              <a:defRPr sz="1300" b="0">
                <a:solidFill>
                  <a:srgbClr val="FFFFFF"/>
                </a:solidFill>
                <a:latin typeface="Segoe UI"/>
              </a:defRPr>
            </a:pPr>
            <a:r>
              <a:t>Agent release pipeline with evaluation gates</a:t>
            </a:r>
          </a:p>
          <a:p>
            <a:pPr>
              <a:spcAft>
                <a:spcPts val="400"/>
              </a:spcAft>
              <a:defRPr sz="1300" b="0">
                <a:solidFill>
                  <a:srgbClr val="FFFFFF"/>
                </a:solidFill>
                <a:latin typeface="Segoe UI"/>
              </a:defRPr>
            </a:pPr>
            <a:r>
              <a:t>SPA portal for tenants and operators</a:t>
            </a:r>
          </a:p>
          <a:p>
            <a:pPr>
              <a:spcAft>
                <a:spcPts val="400"/>
              </a:spcAft>
              <a:defRPr sz="1300" b="0">
                <a:solidFill>
                  <a:srgbClr val="FFFFFF"/>
                </a:solidFill>
                <a:latin typeface="Segoe UI"/>
              </a:defRPr>
            </a:pPr>
            <a:r>
              <a:t>Operational tooling, runbooks, and failover automation</a:t>
            </a:r>
          </a:p>
        </p:txBody>
      </p:sp>
      <p:sp>
        <p:nvSpPr>
          <p:cNvPr id="7" name="Rectangle 6"/>
          <p:cNvSpPr/>
          <p:nvPr/>
        </p:nvSpPr>
        <p:spPr>
          <a:xfrm>
            <a:off x="6217920" y="1737360"/>
            <a:ext cx="5120640" cy="43891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754880" cy="365760"/>
          </a:xfrm>
          <a:prstGeom prst="rect">
            <a:avLst/>
          </a:prstGeom>
          <a:noFill/>
        </p:spPr>
        <p:txBody>
          <a:bodyPr wrap="square">
            <a:spAutoFit/>
          </a:bodyPr>
          <a:lstStyle/>
          <a:p>
            <a:pPr algn="l">
              <a:defRPr sz="1400" b="1">
                <a:solidFill>
                  <a:srgbClr val="14B8A6"/>
                </a:solidFill>
                <a:latin typeface="Segoe UI"/>
              </a:defRPr>
            </a:pPr>
            <a:r>
              <a:t>AGENTCORE MANAGES</a:t>
            </a:r>
          </a:p>
        </p:txBody>
      </p:sp>
      <p:sp>
        <p:nvSpPr>
          <p:cNvPr id="9" name="TextBox 8"/>
          <p:cNvSpPr txBox="1"/>
          <p:nvPr/>
        </p:nvSpPr>
        <p:spPr>
          <a:xfrm>
            <a:off x="6400800" y="2286000"/>
            <a:ext cx="4754880" cy="3657600"/>
          </a:xfrm>
          <a:prstGeom prst="rect">
            <a:avLst/>
          </a:prstGeom>
          <a:noFill/>
        </p:spPr>
        <p:txBody>
          <a:bodyPr wrap="square">
            <a:spAutoFit/>
          </a:bodyPr>
          <a:lstStyle/>
          <a:p>
            <a:pPr>
              <a:spcAft>
                <a:spcPts val="400"/>
              </a:spcAft>
              <a:defRPr sz="1300" b="0">
                <a:solidFill>
                  <a:srgbClr val="FFFFFF"/>
                </a:solidFill>
                <a:latin typeface="Segoe UI"/>
              </a:defRPr>
            </a:pPr>
            <a:r>
              <a:t>Serverless agent hosting — Firecracker microVM per session</a:t>
            </a:r>
          </a:p>
          <a:p>
            <a:pPr>
              <a:spcAft>
                <a:spcPts val="400"/>
              </a:spcAft>
              <a:defRPr sz="1300" b="0">
                <a:solidFill>
                  <a:srgbClr val="FFFFFF"/>
                </a:solidFill>
                <a:latin typeface="Segoe UI"/>
              </a:defRPr>
            </a:pPr>
            <a:r>
              <a:t>Persistent memory — short-term and long-term</a:t>
            </a:r>
          </a:p>
          <a:p>
            <a:pPr>
              <a:spcAft>
                <a:spcPts val="400"/>
              </a:spcAft>
              <a:defRPr sz="1300" b="0">
                <a:solidFill>
                  <a:srgbClr val="FFFFFF"/>
                </a:solidFill>
                <a:latin typeface="Segoe UI"/>
              </a:defRPr>
            </a:pPr>
            <a:r>
              <a:t>MCP tool gateway with Cedar policy enforcement</a:t>
            </a:r>
          </a:p>
          <a:p>
            <a:pPr>
              <a:spcAft>
                <a:spcPts val="400"/>
              </a:spcAft>
              <a:defRPr sz="1300" b="0">
                <a:solidFill>
                  <a:srgbClr val="FFFFFF"/>
                </a:solidFill>
                <a:latin typeface="Segoe UI"/>
              </a:defRPr>
            </a:pPr>
            <a:r>
              <a:t>Identity — outbound credential delegation and vault</a:t>
            </a:r>
          </a:p>
          <a:p>
            <a:pPr>
              <a:spcAft>
                <a:spcPts val="400"/>
              </a:spcAft>
              <a:defRPr sz="1300" b="0">
                <a:solidFill>
                  <a:srgbClr val="FFFFFF"/>
                </a:solidFill>
                <a:latin typeface="Segoe UI"/>
              </a:defRPr>
            </a:pPr>
            <a:r>
              <a:t>OpenTelemetry-based observability</a:t>
            </a:r>
          </a:p>
          <a:p>
            <a:pPr>
              <a:spcAft>
                <a:spcPts val="400"/>
              </a:spcAft>
              <a:defRPr sz="1300" b="0">
                <a:solidFill>
                  <a:srgbClr val="FFFFFF"/>
                </a:solidFill>
                <a:latin typeface="Segoe UI"/>
              </a:defRPr>
            </a:pPr>
            <a:r>
              <a:t>Auto-scaling — per-account quota managed by AWS</a:t>
            </a:r>
          </a:p>
          <a:p>
            <a:pPr>
              <a:spcAft>
                <a:spcPts val="400"/>
              </a:spcAft>
              <a:defRPr sz="1300" b="0">
                <a:solidFill>
                  <a:srgbClr val="FFFFFF"/>
                </a:solidFill>
                <a:latin typeface="Segoe UI"/>
              </a:defRPr>
            </a:pPr>
            <a:r>
              <a:t>Evaluations service (eu-central-1)</a:t>
            </a:r>
          </a:p>
          <a:p>
            <a:pPr>
              <a:spcAft>
                <a:spcPts val="400"/>
              </a:spcAft>
              <a:defRPr sz="1300" b="0">
                <a:solidFill>
                  <a:srgbClr val="FFFFFF"/>
                </a:solidFill>
                <a:latin typeface="Segoe UI"/>
              </a:defRPr>
            </a:pPr>
            <a:r>
              <a:t>Browser and Code Interpreter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Region Topology</a:t>
            </a:r>
          </a:p>
        </p:txBody>
      </p:sp>
      <p:sp>
        <p:nvSpPr>
          <p:cNvPr id="3" name="TextBox 2"/>
          <p:cNvSpPr txBox="1"/>
          <p:nvPr/>
        </p:nvSpPr>
        <p:spPr>
          <a:xfrm>
            <a:off x="731520" y="1005840"/>
            <a:ext cx="10515600" cy="457200"/>
          </a:xfrm>
          <a:prstGeom prst="rect">
            <a:avLst/>
          </a:prstGeom>
          <a:noFill/>
        </p:spPr>
        <p:txBody>
          <a:bodyPr wrap="square">
            <a:spAutoFit/>
          </a:bodyPr>
          <a:lstStyle/>
          <a:p>
            <a:pPr algn="l">
              <a:defRPr sz="1500" b="0">
                <a:solidFill>
                  <a:srgbClr val="CBD5E1"/>
                </a:solidFill>
                <a:latin typeface="Segoe UI"/>
              </a:defRPr>
            </a:pPr>
            <a:r>
              <a:t>Three EU regions, asymmetric by design. London owns everything. Dublin computes. Frankfurt evaluates and fails over.</a:t>
            </a:r>
          </a:p>
        </p:txBody>
      </p:sp>
      <p:sp>
        <p:nvSpPr>
          <p:cNvPr id="4" name="Rectangle 3"/>
          <p:cNvSpPr/>
          <p:nvPr/>
        </p:nvSpPr>
        <p:spPr>
          <a:xfrm>
            <a:off x="457200" y="1737360"/>
            <a:ext cx="3657600" cy="4572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3291840" cy="365760"/>
          </a:xfrm>
          <a:prstGeom prst="rect">
            <a:avLst/>
          </a:prstGeom>
          <a:noFill/>
        </p:spPr>
        <p:txBody>
          <a:bodyPr wrap="square">
            <a:spAutoFit/>
          </a:bodyPr>
          <a:lstStyle/>
          <a:p>
            <a:pPr algn="l">
              <a:defRPr sz="1600" b="1">
                <a:solidFill>
                  <a:srgbClr val="3B82F6"/>
                </a:solidFill>
                <a:latin typeface="Segoe UI"/>
              </a:defRPr>
            </a:pPr>
            <a:r>
              <a:t>eu-west-2 · LONDON</a:t>
            </a:r>
          </a:p>
        </p:txBody>
      </p:sp>
      <p:sp>
        <p:nvSpPr>
          <p:cNvPr id="6" name="TextBox 5"/>
          <p:cNvSpPr txBox="1"/>
          <p:nvPr/>
        </p:nvSpPr>
        <p:spPr>
          <a:xfrm>
            <a:off x="640080" y="2286000"/>
            <a:ext cx="3291840" cy="274320"/>
          </a:xfrm>
          <a:prstGeom prst="rect">
            <a:avLst/>
          </a:prstGeom>
          <a:noFill/>
        </p:spPr>
        <p:txBody>
          <a:bodyPr wrap="square">
            <a:spAutoFit/>
          </a:bodyPr>
          <a:lstStyle/>
          <a:p>
            <a:pPr algn="l">
              <a:defRPr sz="1200" b="0">
                <a:solidFill>
                  <a:srgbClr val="3B82F6"/>
                </a:solidFill>
                <a:latin typeface="Segoe UI"/>
              </a:defRPr>
            </a:pPr>
            <a:r>
              <a:t>HOME — owns everything</a:t>
            </a:r>
          </a:p>
        </p:txBody>
      </p:sp>
      <p:sp>
        <p:nvSpPr>
          <p:cNvPr id="7" name="TextBox 6"/>
          <p:cNvSpPr txBox="1"/>
          <p:nvPr/>
        </p:nvSpPr>
        <p:spPr>
          <a:xfrm>
            <a:off x="640080" y="2743200"/>
            <a:ext cx="3291840" cy="3200400"/>
          </a:xfrm>
          <a:prstGeom prst="rect">
            <a:avLst/>
          </a:prstGeom>
          <a:noFill/>
        </p:spPr>
        <p:txBody>
          <a:bodyPr wrap="square">
            <a:spAutoFit/>
          </a:bodyPr>
          <a:lstStyle/>
          <a:p>
            <a:pPr>
              <a:spcAft>
                <a:spcPts val="400"/>
              </a:spcAft>
              <a:defRPr sz="1100" b="0">
                <a:solidFill>
                  <a:srgbClr val="CBD5E1"/>
                </a:solidFill>
                <a:latin typeface="Segoe UI"/>
              </a:defRPr>
            </a:pPr>
            <a:r>
              <a:t>REST API Gateway + WAF</a:t>
            </a:r>
          </a:p>
          <a:p>
            <a:pPr>
              <a:spcAft>
                <a:spcPts val="400"/>
              </a:spcAft>
              <a:defRPr sz="1100" b="0">
                <a:solidFill>
                  <a:srgbClr val="CBD5E1"/>
                </a:solidFill>
                <a:latin typeface="Segoe UI"/>
              </a:defRPr>
            </a:pPr>
            <a:r>
              <a:t>CloudFront + SPA</a:t>
            </a:r>
          </a:p>
          <a:p>
            <a:pPr>
              <a:spcAft>
                <a:spcPts val="400"/>
              </a:spcAft>
              <a:defRPr sz="1100" b="0">
                <a:solidFill>
                  <a:srgbClr val="CBD5E1"/>
                </a:solidFill>
                <a:latin typeface="Segoe UI"/>
              </a:defRPr>
            </a:pPr>
            <a:r>
              <a:t>AgentCore Gateway, Memory, Identity</a:t>
            </a:r>
          </a:p>
          <a:p>
            <a:pPr>
              <a:spcAft>
                <a:spcPts val="400"/>
              </a:spcAft>
              <a:defRPr sz="1100" b="0">
                <a:solidFill>
                  <a:srgbClr val="CBD5E1"/>
                </a:solidFill>
                <a:latin typeface="Segoe UI"/>
              </a:defRPr>
            </a:pPr>
            <a:r>
              <a:t>All DynamoDB tables (7)</a:t>
            </a:r>
          </a:p>
          <a:p>
            <a:pPr>
              <a:spcAft>
                <a:spcPts val="400"/>
              </a:spcAft>
              <a:defRPr sz="1100" b="0">
                <a:solidFill>
                  <a:srgbClr val="CBD5E1"/>
                </a:solidFill>
                <a:latin typeface="Segoe UI"/>
              </a:defRPr>
            </a:pPr>
            <a:r>
              <a:t>All S3 buckets</a:t>
            </a:r>
          </a:p>
          <a:p>
            <a:pPr>
              <a:spcAft>
                <a:spcPts val="400"/>
              </a:spcAft>
              <a:defRPr sz="1100" b="0">
                <a:solidFill>
                  <a:srgbClr val="CBD5E1"/>
                </a:solidFill>
                <a:latin typeface="Segoe UI"/>
              </a:defRPr>
            </a:pPr>
            <a:r>
              <a:t>Secrets Manager + SSM</a:t>
            </a:r>
          </a:p>
          <a:p>
            <a:pPr>
              <a:spcAft>
                <a:spcPts val="400"/>
              </a:spcAft>
              <a:defRPr sz="1100" b="0">
                <a:solidFill>
                  <a:srgbClr val="CBD5E1"/>
                </a:solidFill>
                <a:latin typeface="Segoe UI"/>
              </a:defRPr>
            </a:pPr>
            <a:r>
              <a:t>EventBridge + SQS</a:t>
            </a:r>
          </a:p>
          <a:p>
            <a:pPr>
              <a:spcAft>
                <a:spcPts val="400"/>
              </a:spcAft>
              <a:defRPr sz="1100" b="0">
                <a:solidFill>
                  <a:srgbClr val="CBD5E1"/>
                </a:solidFill>
                <a:latin typeface="Segoe UI"/>
              </a:defRPr>
            </a:pPr>
            <a:r>
              <a:t>All Lambda functions</a:t>
            </a:r>
          </a:p>
          <a:p>
            <a:pPr>
              <a:spcAft>
                <a:spcPts val="400"/>
              </a:spcAft>
              <a:defRPr sz="1100" b="0">
                <a:solidFill>
                  <a:srgbClr val="CBD5E1"/>
                </a:solidFill>
                <a:latin typeface="Segoe UI"/>
              </a:defRPr>
            </a:pPr>
            <a:r>
              <a:t>CloudWatch + KMS keys</a:t>
            </a:r>
          </a:p>
        </p:txBody>
      </p:sp>
      <p:sp>
        <p:nvSpPr>
          <p:cNvPr id="8" name="Rectangle 7"/>
          <p:cNvSpPr/>
          <p:nvPr/>
        </p:nvSpPr>
        <p:spPr>
          <a:xfrm>
            <a:off x="4297680" y="1737360"/>
            <a:ext cx="3657600" cy="4572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828800"/>
            <a:ext cx="3291840" cy="365760"/>
          </a:xfrm>
          <a:prstGeom prst="rect">
            <a:avLst/>
          </a:prstGeom>
          <a:noFill/>
        </p:spPr>
        <p:txBody>
          <a:bodyPr wrap="square">
            <a:spAutoFit/>
          </a:bodyPr>
          <a:lstStyle/>
          <a:p>
            <a:pPr algn="l">
              <a:defRPr sz="1600" b="1">
                <a:solidFill>
                  <a:srgbClr val="14B8A6"/>
                </a:solidFill>
                <a:latin typeface="Segoe UI"/>
              </a:defRPr>
            </a:pPr>
            <a:r>
              <a:t>eu-west-1 · DUBLIN</a:t>
            </a:r>
          </a:p>
        </p:txBody>
      </p:sp>
      <p:sp>
        <p:nvSpPr>
          <p:cNvPr id="10" name="TextBox 9"/>
          <p:cNvSpPr txBox="1"/>
          <p:nvPr/>
        </p:nvSpPr>
        <p:spPr>
          <a:xfrm>
            <a:off x="4480560" y="2286000"/>
            <a:ext cx="3291840" cy="274320"/>
          </a:xfrm>
          <a:prstGeom prst="rect">
            <a:avLst/>
          </a:prstGeom>
          <a:noFill/>
        </p:spPr>
        <p:txBody>
          <a:bodyPr wrap="square">
            <a:spAutoFit/>
          </a:bodyPr>
          <a:lstStyle/>
          <a:p>
            <a:pPr algn="l">
              <a:defRPr sz="1200" b="0">
                <a:solidFill>
                  <a:srgbClr val="14B8A6"/>
                </a:solidFill>
                <a:latin typeface="Segoe UI"/>
              </a:defRPr>
            </a:pPr>
            <a:r>
              <a:t>COMPUTE — primary runtime</a:t>
            </a:r>
          </a:p>
        </p:txBody>
      </p:sp>
      <p:sp>
        <p:nvSpPr>
          <p:cNvPr id="11" name="TextBox 10"/>
          <p:cNvSpPr txBox="1"/>
          <p:nvPr/>
        </p:nvSpPr>
        <p:spPr>
          <a:xfrm>
            <a:off x="4480560" y="2743200"/>
            <a:ext cx="3291840" cy="3200400"/>
          </a:xfrm>
          <a:prstGeom prst="rect">
            <a:avLst/>
          </a:prstGeom>
          <a:noFill/>
        </p:spPr>
        <p:txBody>
          <a:bodyPr wrap="square">
            <a:spAutoFit/>
          </a:bodyPr>
          <a:lstStyle/>
          <a:p>
            <a:pPr>
              <a:spcAft>
                <a:spcPts val="400"/>
              </a:spcAft>
              <a:defRPr sz="1100" b="0">
                <a:solidFill>
                  <a:srgbClr val="CBD5E1"/>
                </a:solidFill>
                <a:latin typeface="Segoe UI"/>
              </a:defRPr>
            </a:pPr>
            <a:r>
              <a:t>AgentCore Runtime</a:t>
            </a:r>
          </a:p>
          <a:p>
            <a:pPr>
              <a:spcAft>
                <a:spcPts val="400"/>
              </a:spcAft>
              <a:defRPr sz="1100" b="0">
                <a:solidFill>
                  <a:srgbClr val="94A3B8"/>
                </a:solidFill>
                <a:latin typeface="Segoe UI"/>
              </a:defRPr>
            </a:pPr>
            <a:r>
              <a:t>  arm64 Firecracker microVM</a:t>
            </a:r>
          </a:p>
          <a:p>
            <a:pPr>
              <a:spcAft>
                <a:spcPts val="400"/>
              </a:spcAft>
              <a:defRPr sz="1100" b="0">
                <a:solidFill>
                  <a:srgbClr val="CBD5E1"/>
                </a:solidFill>
                <a:latin typeface="Segoe UI"/>
              </a:defRPr>
            </a:pPr>
            <a:r>
              <a:t>AgentCore Observability</a:t>
            </a:r>
          </a:p>
          <a:p>
            <a:pPr>
              <a:spcAft>
                <a:spcPts val="400"/>
              </a:spcAft>
              <a:defRPr sz="1100" b="0">
                <a:solidFill>
                  <a:srgbClr val="94A3B8"/>
                </a:solidFill>
                <a:latin typeface="Segoe UI"/>
              </a:defRPr>
            </a:pPr>
            <a:r>
              <a:t>  traces forwarded to London</a:t>
            </a:r>
          </a:p>
          <a:p>
            <a:pPr>
              <a:spcAft>
                <a:spcPts val="400"/>
              </a:spcAft>
              <a:defRPr sz="1100" b="0">
                <a:solidFill>
                  <a:srgbClr val="CBD5E1"/>
                </a:solidFill>
                <a:latin typeface="Segoe UI"/>
              </a:defRPr>
            </a:pPr>
            <a:r>
              <a:t>AgentCore Browser</a:t>
            </a:r>
          </a:p>
          <a:p>
            <a:pPr>
              <a:spcAft>
                <a:spcPts val="400"/>
              </a:spcAft>
              <a:defRPr sz="1100" b="0">
                <a:solidFill>
                  <a:srgbClr val="CBD5E1"/>
                </a:solidFill>
                <a:latin typeface="Segoe UI"/>
              </a:defRPr>
            </a:pPr>
            <a:r>
              <a:t>AgentCore Code Interpreter</a:t>
            </a:r>
          </a:p>
          <a:p>
            <a:pPr>
              <a:spcAft>
                <a:spcPts val="400"/>
              </a:spcAft>
              <a:defRPr sz="800" b="0">
                <a:solidFill>
                  <a:srgbClr val="CBD5E1"/>
                </a:solidFill>
                <a:latin typeface="Segoe UI"/>
              </a:defRPr>
            </a:pPr>
          </a:p>
          <a:p>
            <a:pPr>
              <a:spcAft>
                <a:spcPts val="400"/>
              </a:spcAft>
              <a:defRPr sz="1100" b="0">
                <a:solidFill>
                  <a:srgbClr val="F59E0B"/>
                </a:solidFill>
                <a:latin typeface="Segoe UI"/>
              </a:defRPr>
            </a:pPr>
            <a:r>
              <a:t>~12ms RTT from London</a:t>
            </a:r>
          </a:p>
        </p:txBody>
      </p:sp>
      <p:sp>
        <p:nvSpPr>
          <p:cNvPr id="12" name="Rectangle 11"/>
          <p:cNvSpPr/>
          <p:nvPr/>
        </p:nvSpPr>
        <p:spPr>
          <a:xfrm>
            <a:off x="8138160" y="1737360"/>
            <a:ext cx="3657600" cy="4572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828800"/>
            <a:ext cx="3291840" cy="365760"/>
          </a:xfrm>
          <a:prstGeom prst="rect">
            <a:avLst/>
          </a:prstGeom>
          <a:noFill/>
        </p:spPr>
        <p:txBody>
          <a:bodyPr wrap="square">
            <a:spAutoFit/>
          </a:bodyPr>
          <a:lstStyle/>
          <a:p>
            <a:pPr algn="l">
              <a:defRPr sz="1600" b="1">
                <a:solidFill>
                  <a:srgbClr val="F59E0B"/>
                </a:solidFill>
                <a:latin typeface="Segoe UI"/>
              </a:defRPr>
            </a:pPr>
            <a:r>
              <a:t>eu-central-1 · FRANKFURT</a:t>
            </a:r>
          </a:p>
        </p:txBody>
      </p:sp>
      <p:sp>
        <p:nvSpPr>
          <p:cNvPr id="14" name="TextBox 13"/>
          <p:cNvSpPr txBox="1"/>
          <p:nvPr/>
        </p:nvSpPr>
        <p:spPr>
          <a:xfrm>
            <a:off x="8321040" y="2286000"/>
            <a:ext cx="3291840" cy="274320"/>
          </a:xfrm>
          <a:prstGeom prst="rect">
            <a:avLst/>
          </a:prstGeom>
          <a:noFill/>
        </p:spPr>
        <p:txBody>
          <a:bodyPr wrap="square">
            <a:spAutoFit/>
          </a:bodyPr>
          <a:lstStyle/>
          <a:p>
            <a:pPr algn="l">
              <a:defRPr sz="1200" b="0">
                <a:solidFill>
                  <a:srgbClr val="F59E0B"/>
                </a:solidFill>
                <a:latin typeface="Segoe UI"/>
              </a:defRPr>
            </a:pPr>
            <a:r>
              <a:t>EVALUATION + failover</a:t>
            </a:r>
          </a:p>
        </p:txBody>
      </p:sp>
      <p:sp>
        <p:nvSpPr>
          <p:cNvPr id="15" name="TextBox 14"/>
          <p:cNvSpPr txBox="1"/>
          <p:nvPr/>
        </p:nvSpPr>
        <p:spPr>
          <a:xfrm>
            <a:off x="8321040" y="2743200"/>
            <a:ext cx="3291840" cy="3200400"/>
          </a:xfrm>
          <a:prstGeom prst="rect">
            <a:avLst/>
          </a:prstGeom>
          <a:noFill/>
        </p:spPr>
        <p:txBody>
          <a:bodyPr wrap="square">
            <a:spAutoFit/>
          </a:bodyPr>
          <a:lstStyle/>
          <a:p>
            <a:pPr>
              <a:spcAft>
                <a:spcPts val="400"/>
              </a:spcAft>
              <a:defRPr sz="1100" b="0">
                <a:solidFill>
                  <a:srgbClr val="CBD5E1"/>
                </a:solidFill>
                <a:latin typeface="Segoe UI"/>
              </a:defRPr>
            </a:pPr>
            <a:r>
              <a:t>AgentCore Evaluations</a:t>
            </a:r>
          </a:p>
          <a:p>
            <a:pPr>
              <a:spcAft>
                <a:spcPts val="400"/>
              </a:spcAft>
              <a:defRPr sz="1100" b="0">
                <a:solidFill>
                  <a:srgbClr val="CBD5E1"/>
                </a:solidFill>
                <a:latin typeface="Segoe UI"/>
              </a:defRPr>
            </a:pPr>
            <a:r>
              <a:t>AgentCore Policy (Cedar)</a:t>
            </a:r>
          </a:p>
          <a:p>
            <a:pPr>
              <a:spcAft>
                <a:spcPts val="400"/>
              </a:spcAft>
              <a:defRPr sz="1100" b="0">
                <a:solidFill>
                  <a:srgbClr val="CBD5E1"/>
                </a:solidFill>
                <a:latin typeface="Segoe UI"/>
              </a:defRPr>
            </a:pPr>
            <a:r>
              <a:t>Runtime failover target</a:t>
            </a:r>
          </a:p>
          <a:p>
            <a:pPr>
              <a:spcAft>
                <a:spcPts val="400"/>
              </a:spcAft>
              <a:defRPr sz="800" b="0">
                <a:solidFill>
                  <a:srgbClr val="CBD5E1"/>
                </a:solidFill>
                <a:latin typeface="Segoe UI"/>
              </a:defRPr>
            </a:pPr>
          </a:p>
          <a:p>
            <a:pPr>
              <a:spcAft>
                <a:spcPts val="400"/>
              </a:spcAft>
              <a:defRPr sz="1100" b="0">
                <a:solidFill>
                  <a:srgbClr val="EF4444"/>
                </a:solidFill>
                <a:latin typeface="Segoe UI"/>
              </a:defRPr>
            </a:pPr>
            <a:r>
              <a:t>Failover: Dublin → Frankfurt</a:t>
            </a:r>
          </a:p>
          <a:p>
            <a:pPr>
              <a:spcAft>
                <a:spcPts val="400"/>
              </a:spcAft>
              <a:defRPr sz="1100" b="0">
                <a:solidFill>
                  <a:srgbClr val="94A3B8"/>
                </a:solidFill>
                <a:latin typeface="Segoe UI"/>
              </a:defRPr>
            </a:pPr>
            <a:r>
              <a:t>on ServiceUnavailableException</a:t>
            </a:r>
          </a:p>
          <a:p>
            <a:pPr>
              <a:spcAft>
                <a:spcPts val="400"/>
              </a:spcAft>
              <a:defRPr sz="1100" b="0">
                <a:solidFill>
                  <a:srgbClr val="94A3B8"/>
                </a:solidFill>
                <a:latin typeface="Segoe UI"/>
              </a:defRPr>
            </a:pPr>
            <a:r>
              <a:t>SSM parameter + DynamoDB lock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Request Lifecycle</a:t>
            </a:r>
          </a:p>
        </p:txBody>
      </p:sp>
      <p:sp>
        <p:nvSpPr>
          <p:cNvPr id="3" name="TextBox 2"/>
          <p:cNvSpPr txBox="1"/>
          <p:nvPr/>
        </p:nvSpPr>
        <p:spPr>
          <a:xfrm>
            <a:off x="731520" y="914400"/>
            <a:ext cx="10515600" cy="548640"/>
          </a:xfrm>
          <a:prstGeom prst="rect">
            <a:avLst/>
          </a:prstGeom>
          <a:noFill/>
        </p:spPr>
        <p:txBody>
          <a:bodyPr wrap="square">
            <a:spAutoFit/>
          </a:bodyPr>
          <a:lstStyle/>
          <a:p>
            <a:pPr algn="l">
              <a:defRPr sz="1500" b="0">
                <a:solidFill>
                  <a:srgbClr val="CBD5E1"/>
                </a:solidFill>
                <a:latin typeface="Segoe UI"/>
              </a:defRPr>
            </a:pPr>
            <a:r>
              <a:t>Every invocation traverses four independent enforcement layers before reaching agent code. A single-layer breach does not compromise tenant data.</a:t>
            </a:r>
          </a:p>
        </p:txBody>
      </p:sp>
      <p:sp>
        <p:nvSpPr>
          <p:cNvPr id="4" name="Rectangle 3"/>
          <p:cNvSpPr/>
          <p:nvPr/>
        </p:nvSpPr>
        <p:spPr>
          <a:xfrm>
            <a:off x="274320" y="1828800"/>
            <a:ext cx="137160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920240"/>
            <a:ext cx="1280160" cy="320040"/>
          </a:xfrm>
          <a:prstGeom prst="rect">
            <a:avLst/>
          </a:prstGeom>
          <a:noFill/>
        </p:spPr>
        <p:txBody>
          <a:bodyPr wrap="square">
            <a:spAutoFit/>
          </a:bodyPr>
          <a:lstStyle/>
          <a:p>
            <a:pPr algn="l">
              <a:defRPr sz="900" b="1">
                <a:solidFill>
                  <a:srgbClr val="3B82F6"/>
                </a:solidFill>
                <a:latin typeface="Segoe UI"/>
              </a:defRPr>
            </a:pPr>
            <a:r>
              <a:t>CLIENT</a:t>
            </a:r>
          </a:p>
        </p:txBody>
      </p:sp>
      <p:sp>
        <p:nvSpPr>
          <p:cNvPr id="6" name="TextBox 5"/>
          <p:cNvSpPr txBox="1"/>
          <p:nvPr/>
        </p:nvSpPr>
        <p:spPr>
          <a:xfrm>
            <a:off x="320040" y="2286000"/>
            <a:ext cx="1280160" cy="2743200"/>
          </a:xfrm>
          <a:prstGeom prst="rect">
            <a:avLst/>
          </a:prstGeom>
          <a:noFill/>
        </p:spPr>
        <p:txBody>
          <a:bodyPr wrap="square">
            <a:spAutoFit/>
          </a:bodyPr>
          <a:lstStyle/>
          <a:p>
            <a:pPr>
              <a:spcAft>
                <a:spcPts val="400"/>
              </a:spcAft>
              <a:defRPr sz="900" b="0">
                <a:solidFill>
                  <a:srgbClr val="CBD5E1"/>
                </a:solidFill>
                <a:latin typeface="Segoe UI"/>
              </a:defRPr>
            </a:pPr>
            <a:r>
              <a:t>SPA / SigV4 CLI</a:t>
            </a:r>
          </a:p>
        </p:txBody>
      </p:sp>
      <p:sp>
        <p:nvSpPr>
          <p:cNvPr id="7" name="Rectangle 6"/>
          <p:cNvSpPr/>
          <p:nvPr/>
        </p:nvSpPr>
        <p:spPr>
          <a:xfrm>
            <a:off x="1828800" y="1828800"/>
            <a:ext cx="137160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74519" y="1920240"/>
            <a:ext cx="1280160" cy="320040"/>
          </a:xfrm>
          <a:prstGeom prst="rect">
            <a:avLst/>
          </a:prstGeom>
          <a:noFill/>
        </p:spPr>
        <p:txBody>
          <a:bodyPr wrap="square">
            <a:spAutoFit/>
          </a:bodyPr>
          <a:lstStyle/>
          <a:p>
            <a:pPr algn="l">
              <a:defRPr sz="900" b="1">
                <a:solidFill>
                  <a:srgbClr val="94A3B8"/>
                </a:solidFill>
                <a:latin typeface="Segoe UI"/>
              </a:defRPr>
            </a:pPr>
            <a:r>
              <a:t>CLOUDFRONT</a:t>
            </a:r>
          </a:p>
        </p:txBody>
      </p:sp>
      <p:sp>
        <p:nvSpPr>
          <p:cNvPr id="9" name="TextBox 8"/>
          <p:cNvSpPr txBox="1"/>
          <p:nvPr/>
        </p:nvSpPr>
        <p:spPr>
          <a:xfrm>
            <a:off x="1874519" y="2286000"/>
            <a:ext cx="1280160" cy="2743200"/>
          </a:xfrm>
          <a:prstGeom prst="rect">
            <a:avLst/>
          </a:prstGeom>
          <a:noFill/>
        </p:spPr>
        <p:txBody>
          <a:bodyPr wrap="square">
            <a:spAutoFit/>
          </a:bodyPr>
          <a:lstStyle/>
          <a:p>
            <a:pPr>
              <a:spcAft>
                <a:spcPts val="400"/>
              </a:spcAft>
              <a:defRPr sz="900" b="0">
                <a:solidFill>
                  <a:srgbClr val="CBD5E1"/>
                </a:solidFill>
                <a:latin typeface="Segoe UI"/>
              </a:defRPr>
            </a:pPr>
            <a:r>
              <a:t>CSP headers</a:t>
            </a:r>
          </a:p>
          <a:p>
            <a:pPr>
              <a:spcAft>
                <a:spcPts val="400"/>
              </a:spcAft>
              <a:defRPr sz="900" b="0">
                <a:solidFill>
                  <a:srgbClr val="CBD5E1"/>
                </a:solidFill>
                <a:latin typeface="Segoe UI"/>
              </a:defRPr>
            </a:pPr>
            <a:r>
              <a:t>Edge caching</a:t>
            </a:r>
          </a:p>
        </p:txBody>
      </p:sp>
      <p:sp>
        <p:nvSpPr>
          <p:cNvPr id="10" name="Rectangle 9"/>
          <p:cNvSpPr/>
          <p:nvPr/>
        </p:nvSpPr>
        <p:spPr>
          <a:xfrm>
            <a:off x="3383280" y="1828800"/>
            <a:ext cx="137160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1920240"/>
            <a:ext cx="1280160" cy="320040"/>
          </a:xfrm>
          <a:prstGeom prst="rect">
            <a:avLst/>
          </a:prstGeom>
          <a:noFill/>
        </p:spPr>
        <p:txBody>
          <a:bodyPr wrap="square">
            <a:spAutoFit/>
          </a:bodyPr>
          <a:lstStyle/>
          <a:p>
            <a:pPr algn="l">
              <a:defRPr sz="900" b="1">
                <a:solidFill>
                  <a:srgbClr val="94A3B8"/>
                </a:solidFill>
                <a:latin typeface="Segoe UI"/>
              </a:defRPr>
            </a:pPr>
            <a:r>
              <a:t>API GATEWAY</a:t>
            </a:r>
          </a:p>
        </p:txBody>
      </p:sp>
      <p:sp>
        <p:nvSpPr>
          <p:cNvPr id="12" name="TextBox 11"/>
          <p:cNvSpPr txBox="1"/>
          <p:nvPr/>
        </p:nvSpPr>
        <p:spPr>
          <a:xfrm>
            <a:off x="3429000" y="2286000"/>
            <a:ext cx="1280160" cy="2743200"/>
          </a:xfrm>
          <a:prstGeom prst="rect">
            <a:avLst/>
          </a:prstGeom>
          <a:noFill/>
        </p:spPr>
        <p:txBody>
          <a:bodyPr wrap="square">
            <a:spAutoFit/>
          </a:bodyPr>
          <a:lstStyle/>
          <a:p>
            <a:pPr>
              <a:spcAft>
                <a:spcPts val="400"/>
              </a:spcAft>
              <a:defRPr sz="900" b="0">
                <a:solidFill>
                  <a:srgbClr val="CBD5E1"/>
                </a:solidFill>
                <a:latin typeface="Segoe UI"/>
              </a:defRPr>
            </a:pPr>
            <a:r>
              <a:t>WAF + usage plans</a:t>
            </a:r>
          </a:p>
          <a:p>
            <a:pPr>
              <a:spcAft>
                <a:spcPts val="400"/>
              </a:spcAft>
              <a:defRPr sz="900" b="0">
                <a:solidFill>
                  <a:srgbClr val="CBD5E1"/>
                </a:solidFill>
                <a:latin typeface="Segoe UI"/>
              </a:defRPr>
            </a:pPr>
            <a:r>
              <a:t>Rate limiting</a:t>
            </a:r>
          </a:p>
        </p:txBody>
      </p:sp>
      <p:sp>
        <p:nvSpPr>
          <p:cNvPr id="13" name="Rectangle 12"/>
          <p:cNvSpPr/>
          <p:nvPr/>
        </p:nvSpPr>
        <p:spPr>
          <a:xfrm>
            <a:off x="4937760" y="1828800"/>
            <a:ext cx="137160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80" y="1920240"/>
            <a:ext cx="1280160" cy="320040"/>
          </a:xfrm>
          <a:prstGeom prst="rect">
            <a:avLst/>
          </a:prstGeom>
          <a:noFill/>
        </p:spPr>
        <p:txBody>
          <a:bodyPr wrap="square">
            <a:spAutoFit/>
          </a:bodyPr>
          <a:lstStyle/>
          <a:p>
            <a:pPr algn="l">
              <a:defRPr sz="900" b="1">
                <a:solidFill>
                  <a:srgbClr val="3B82F6"/>
                </a:solidFill>
                <a:latin typeface="Segoe UI"/>
              </a:defRPr>
            </a:pPr>
            <a:r>
              <a:t>AUTHORISER</a:t>
            </a:r>
          </a:p>
        </p:txBody>
      </p:sp>
      <p:sp>
        <p:nvSpPr>
          <p:cNvPr id="15" name="TextBox 14"/>
          <p:cNvSpPr txBox="1"/>
          <p:nvPr/>
        </p:nvSpPr>
        <p:spPr>
          <a:xfrm>
            <a:off x="4983480" y="2286000"/>
            <a:ext cx="1280160" cy="2743200"/>
          </a:xfrm>
          <a:prstGeom prst="rect">
            <a:avLst/>
          </a:prstGeom>
          <a:noFill/>
        </p:spPr>
        <p:txBody>
          <a:bodyPr wrap="square">
            <a:spAutoFit/>
          </a:bodyPr>
          <a:lstStyle/>
          <a:p>
            <a:pPr>
              <a:spcAft>
                <a:spcPts val="400"/>
              </a:spcAft>
              <a:defRPr sz="900" b="0">
                <a:solidFill>
                  <a:srgbClr val="CBD5E1"/>
                </a:solidFill>
                <a:latin typeface="Segoe UI"/>
              </a:defRPr>
            </a:pPr>
            <a:r>
              <a:t>Layer 1</a:t>
            </a:r>
          </a:p>
          <a:p>
            <a:pPr>
              <a:spcAft>
                <a:spcPts val="400"/>
              </a:spcAft>
              <a:defRPr sz="900" b="0">
                <a:solidFill>
                  <a:srgbClr val="CBD5E1"/>
                </a:solidFill>
                <a:latin typeface="Segoe UI"/>
              </a:defRPr>
            </a:pPr>
            <a:r>
              <a:t>Entra JWT validation</a:t>
            </a:r>
          </a:p>
          <a:p>
            <a:pPr>
              <a:spcAft>
                <a:spcPts val="400"/>
              </a:spcAft>
              <a:defRPr sz="900" b="0">
                <a:solidFill>
                  <a:srgbClr val="CBD5E1"/>
                </a:solidFill>
                <a:latin typeface="Segoe UI"/>
              </a:defRPr>
            </a:pPr>
            <a:r>
              <a:t>RBAC + tenant context</a:t>
            </a:r>
          </a:p>
        </p:txBody>
      </p:sp>
      <p:sp>
        <p:nvSpPr>
          <p:cNvPr id="16" name="Rectangle 15"/>
          <p:cNvSpPr/>
          <p:nvPr/>
        </p:nvSpPr>
        <p:spPr>
          <a:xfrm>
            <a:off x="6492240" y="1828800"/>
            <a:ext cx="137160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59" y="1920240"/>
            <a:ext cx="1280160" cy="320040"/>
          </a:xfrm>
          <a:prstGeom prst="rect">
            <a:avLst/>
          </a:prstGeom>
          <a:noFill/>
        </p:spPr>
        <p:txBody>
          <a:bodyPr wrap="square">
            <a:spAutoFit/>
          </a:bodyPr>
          <a:lstStyle/>
          <a:p>
            <a:pPr algn="l">
              <a:defRPr sz="900" b="1">
                <a:solidFill>
                  <a:srgbClr val="14B8A6"/>
                </a:solidFill>
                <a:latin typeface="Segoe UI"/>
              </a:defRPr>
            </a:pPr>
            <a:r>
              <a:t>BRIDGE</a:t>
            </a:r>
          </a:p>
        </p:txBody>
      </p:sp>
      <p:sp>
        <p:nvSpPr>
          <p:cNvPr id="18" name="TextBox 17"/>
          <p:cNvSpPr txBox="1"/>
          <p:nvPr/>
        </p:nvSpPr>
        <p:spPr>
          <a:xfrm>
            <a:off x="6537959" y="2286000"/>
            <a:ext cx="1280160" cy="2743200"/>
          </a:xfrm>
          <a:prstGeom prst="rect">
            <a:avLst/>
          </a:prstGeom>
          <a:noFill/>
        </p:spPr>
        <p:txBody>
          <a:bodyPr wrap="square">
            <a:spAutoFit/>
          </a:bodyPr>
          <a:lstStyle/>
          <a:p>
            <a:pPr>
              <a:spcAft>
                <a:spcPts val="400"/>
              </a:spcAft>
              <a:defRPr sz="900" b="0">
                <a:solidFill>
                  <a:srgbClr val="CBD5E1"/>
                </a:solidFill>
                <a:latin typeface="Segoe UI"/>
              </a:defRPr>
            </a:pPr>
            <a:r>
              <a:t>Layer 2</a:t>
            </a:r>
          </a:p>
          <a:p>
            <a:pPr>
              <a:spcAft>
                <a:spcPts val="400"/>
              </a:spcAft>
              <a:defRPr sz="900" b="0">
                <a:solidFill>
                  <a:srgbClr val="CBD5E1"/>
                </a:solidFill>
                <a:latin typeface="Segoe UI"/>
              </a:defRPr>
            </a:pPr>
            <a:r>
              <a:t>STS role assumption</a:t>
            </a:r>
          </a:p>
          <a:p>
            <a:pPr>
              <a:spcAft>
                <a:spcPts val="400"/>
              </a:spcAft>
              <a:defRPr sz="900" b="0">
                <a:solidFill>
                  <a:srgbClr val="CBD5E1"/>
                </a:solidFill>
                <a:latin typeface="Segoe UI"/>
              </a:defRPr>
            </a:pPr>
            <a:r>
              <a:t>Runtime dispatch</a:t>
            </a:r>
          </a:p>
        </p:txBody>
      </p:sp>
      <p:sp>
        <p:nvSpPr>
          <p:cNvPr id="19" name="Rectangle 18"/>
          <p:cNvSpPr/>
          <p:nvPr/>
        </p:nvSpPr>
        <p:spPr>
          <a:xfrm>
            <a:off x="8046720" y="1828800"/>
            <a:ext cx="137160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1920240"/>
            <a:ext cx="1280160" cy="320040"/>
          </a:xfrm>
          <a:prstGeom prst="rect">
            <a:avLst/>
          </a:prstGeom>
          <a:noFill/>
        </p:spPr>
        <p:txBody>
          <a:bodyPr wrap="square">
            <a:spAutoFit/>
          </a:bodyPr>
          <a:lstStyle/>
          <a:p>
            <a:pPr algn="l">
              <a:defRPr sz="900" b="1">
                <a:solidFill>
                  <a:srgbClr val="14B8A6"/>
                </a:solidFill>
                <a:latin typeface="Segoe UI"/>
              </a:defRPr>
            </a:pPr>
            <a:r>
              <a:t>RUNTIME</a:t>
            </a:r>
          </a:p>
        </p:txBody>
      </p:sp>
      <p:sp>
        <p:nvSpPr>
          <p:cNvPr id="21" name="TextBox 20"/>
          <p:cNvSpPr txBox="1"/>
          <p:nvPr/>
        </p:nvSpPr>
        <p:spPr>
          <a:xfrm>
            <a:off x="8092440" y="2286000"/>
            <a:ext cx="1280160" cy="2743200"/>
          </a:xfrm>
          <a:prstGeom prst="rect">
            <a:avLst/>
          </a:prstGeom>
          <a:noFill/>
        </p:spPr>
        <p:txBody>
          <a:bodyPr wrap="square">
            <a:spAutoFit/>
          </a:bodyPr>
          <a:lstStyle/>
          <a:p>
            <a:pPr>
              <a:spcAft>
                <a:spcPts val="400"/>
              </a:spcAft>
              <a:defRPr sz="900" b="0">
                <a:solidFill>
                  <a:srgbClr val="CBD5E1"/>
                </a:solidFill>
                <a:latin typeface="Segoe UI"/>
              </a:defRPr>
            </a:pPr>
            <a:r>
              <a:t>Firecracker microVM</a:t>
            </a:r>
          </a:p>
          <a:p>
            <a:pPr>
              <a:spcAft>
                <a:spcPts val="400"/>
              </a:spcAft>
              <a:defRPr sz="900" b="0">
                <a:solidFill>
                  <a:srgbClr val="CBD5E1"/>
                </a:solidFill>
                <a:latin typeface="Segoe UI"/>
              </a:defRPr>
            </a:pPr>
            <a:r>
              <a:t>eu-west-1</a:t>
            </a:r>
          </a:p>
        </p:txBody>
      </p:sp>
      <p:sp>
        <p:nvSpPr>
          <p:cNvPr id="22" name="Rectangle 21"/>
          <p:cNvSpPr/>
          <p:nvPr/>
        </p:nvSpPr>
        <p:spPr>
          <a:xfrm>
            <a:off x="9601200" y="1828800"/>
            <a:ext cx="1371600" cy="34747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6920" y="1920240"/>
            <a:ext cx="1280160" cy="320040"/>
          </a:xfrm>
          <a:prstGeom prst="rect">
            <a:avLst/>
          </a:prstGeom>
          <a:noFill/>
        </p:spPr>
        <p:txBody>
          <a:bodyPr wrap="square">
            <a:spAutoFit/>
          </a:bodyPr>
          <a:lstStyle/>
          <a:p>
            <a:pPr algn="l">
              <a:defRPr sz="900" b="1">
                <a:solidFill>
                  <a:srgbClr val="F59E0B"/>
                </a:solidFill>
                <a:latin typeface="Segoe UI"/>
              </a:defRPr>
            </a:pPr>
            <a:r>
              <a:t>INTERCEPTORS</a:t>
            </a:r>
          </a:p>
        </p:txBody>
      </p:sp>
      <p:sp>
        <p:nvSpPr>
          <p:cNvPr id="24" name="TextBox 23"/>
          <p:cNvSpPr txBox="1"/>
          <p:nvPr/>
        </p:nvSpPr>
        <p:spPr>
          <a:xfrm>
            <a:off x="9646920" y="2286000"/>
            <a:ext cx="1280160" cy="2743200"/>
          </a:xfrm>
          <a:prstGeom prst="rect">
            <a:avLst/>
          </a:prstGeom>
          <a:noFill/>
        </p:spPr>
        <p:txBody>
          <a:bodyPr wrap="square">
            <a:spAutoFit/>
          </a:bodyPr>
          <a:lstStyle/>
          <a:p>
            <a:pPr>
              <a:spcAft>
                <a:spcPts val="400"/>
              </a:spcAft>
              <a:defRPr sz="900" b="0">
                <a:solidFill>
                  <a:srgbClr val="CBD5E1"/>
                </a:solidFill>
                <a:latin typeface="Segoe UI"/>
              </a:defRPr>
            </a:pPr>
            <a:r>
              <a:t>Layer 3</a:t>
            </a:r>
          </a:p>
          <a:p>
            <a:pPr>
              <a:spcAft>
                <a:spcPts val="400"/>
              </a:spcAft>
              <a:defRPr sz="900" b="0">
                <a:solidFill>
                  <a:srgbClr val="CBD5E1"/>
                </a:solidFill>
                <a:latin typeface="Segoe UI"/>
              </a:defRPr>
            </a:pPr>
            <a:r>
              <a:t>Act-on-behalf tokens</a:t>
            </a:r>
          </a:p>
          <a:p>
            <a:pPr>
              <a:spcAft>
                <a:spcPts val="400"/>
              </a:spcAft>
              <a:defRPr sz="900" b="0">
                <a:solidFill>
                  <a:srgbClr val="CBD5E1"/>
                </a:solidFill>
                <a:latin typeface="Segoe UI"/>
              </a:defRPr>
            </a:pPr>
            <a:r>
              <a:t>Tier filtering + PII</a:t>
            </a:r>
          </a:p>
        </p:txBody>
      </p:sp>
      <p:sp>
        <p:nvSpPr>
          <p:cNvPr id="25" name="Rectangle 24"/>
          <p:cNvSpPr/>
          <p:nvPr/>
        </p:nvSpPr>
        <p:spPr>
          <a:xfrm>
            <a:off x="274320" y="5486400"/>
            <a:ext cx="10972800" cy="731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532120"/>
            <a:ext cx="10515600" cy="320040"/>
          </a:xfrm>
          <a:prstGeom prst="rect">
            <a:avLst/>
          </a:prstGeom>
          <a:noFill/>
        </p:spPr>
        <p:txBody>
          <a:bodyPr wrap="square">
            <a:spAutoFit/>
          </a:bodyPr>
          <a:lstStyle/>
          <a:p>
            <a:pPr algn="l">
              <a:defRPr sz="1300" b="1">
                <a:solidFill>
                  <a:srgbClr val="EF4444"/>
                </a:solidFill>
                <a:latin typeface="Segoe UI"/>
              </a:defRPr>
            </a:pPr>
            <a:r>
              <a:t>LAYER 4 — data-access-lib: TenantScopedDynamoDB raises TenantAccessViolation on any cross-tenant access</a:t>
            </a:r>
          </a:p>
        </p:txBody>
      </p:sp>
      <p:sp>
        <p:nvSpPr>
          <p:cNvPr id="27" name="TextBox 26"/>
          <p:cNvSpPr txBox="1"/>
          <p:nvPr/>
        </p:nvSpPr>
        <p:spPr>
          <a:xfrm>
            <a:off x="457200" y="5852160"/>
            <a:ext cx="10515600" cy="274320"/>
          </a:xfrm>
          <a:prstGeom prst="rect">
            <a:avLst/>
          </a:prstGeom>
          <a:noFill/>
        </p:spPr>
        <p:txBody>
          <a:bodyPr wrap="square">
            <a:spAutoFit/>
          </a:bodyPr>
          <a:lstStyle/>
          <a:p>
            <a:pPr algn="l">
              <a:defRPr sz="1100" b="0">
                <a:solidFill>
                  <a:srgbClr val="94A3B8"/>
                </a:solidFill>
                <a:latin typeface="Segoe UI"/>
              </a:defRPr>
            </a:pPr>
            <a:r>
              <a:t>The only permitted DynamoDB access path from Lambda handlers. Raw boto3 calls are a forbidden pattern.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Authentication and Identity</a:t>
            </a:r>
          </a:p>
        </p:txBody>
      </p:sp>
      <p:sp>
        <p:nvSpPr>
          <p:cNvPr id="3" name="TextBox 2"/>
          <p:cNvSpPr txBox="1"/>
          <p:nvPr/>
        </p:nvSpPr>
        <p:spPr>
          <a:xfrm>
            <a:off x="731520" y="1097280"/>
            <a:ext cx="5029200" cy="2286000"/>
          </a:xfrm>
          <a:prstGeom prst="rect">
            <a:avLst/>
          </a:prstGeom>
          <a:noFill/>
        </p:spPr>
        <p:txBody>
          <a:bodyPr wrap="square">
            <a:spAutoFit/>
          </a:bodyPr>
          <a:lstStyle/>
          <a:p>
            <a:pPr>
              <a:spcAft>
                <a:spcPts val="400"/>
              </a:spcAft>
              <a:defRPr sz="1800" b="1">
                <a:solidFill>
                  <a:srgbClr val="3B82F6"/>
                </a:solidFill>
                <a:latin typeface="Segoe UI"/>
              </a:defRPr>
            </a:pPr>
            <a:r>
              <a:t>Act-on-behalf, not impersonation.</a:t>
            </a:r>
          </a:p>
          <a:p>
            <a:pPr>
              <a:spcAft>
                <a:spcPts val="400"/>
              </a:spcAft>
              <a:defRPr sz="800" b="0">
                <a:solidFill>
                  <a:srgbClr val="CBD5E1"/>
                </a:solidFill>
                <a:latin typeface="Segoe UI"/>
              </a:defRPr>
            </a:pPr>
          </a:p>
          <a:p>
            <a:pPr>
              <a:spcAft>
                <a:spcPts val="400"/>
              </a:spcAft>
              <a:defRPr sz="1300" b="0">
                <a:solidFill>
                  <a:srgbClr val="CBD5E1"/>
                </a:solidFill>
                <a:latin typeface="Segoe UI"/>
              </a:defRPr>
            </a:pPr>
            <a:r>
              <a:t>The original user JWT never reaches a tool Lambda. The REQUEST interceptor issues a new short-lived token scoped to the specific tool being invoked. If a tool Lambda is compromised, the attacker holds a token that expires in 5 minutes and authorises access to exactly one tool.</a:t>
            </a:r>
          </a:p>
          <a:p>
            <a:pPr>
              <a:spcAft>
                <a:spcPts val="400"/>
              </a:spcAft>
              <a:defRPr sz="800" b="0">
                <a:solidFill>
                  <a:srgbClr val="CBD5E1"/>
                </a:solidFill>
                <a:latin typeface="Segoe UI"/>
              </a:defRPr>
            </a:pPr>
          </a:p>
          <a:p>
            <a:pPr>
              <a:spcAft>
                <a:spcPts val="400"/>
              </a:spcAft>
              <a:defRPr sz="1300" b="0">
                <a:solidFill>
                  <a:srgbClr val="CBD5E1"/>
                </a:solidFill>
                <a:latin typeface="Segoe UI"/>
              </a:defRPr>
            </a:pPr>
            <a:r>
              <a:t>This prevents confused deputy attacks, reduces blast radius on compromise, and enables full auditability because each token hop is logged independently.</a:t>
            </a:r>
          </a:p>
        </p:txBody>
      </p:sp>
      <p:sp>
        <p:nvSpPr>
          <p:cNvPr id="4" name="Rectangle 3"/>
          <p:cNvSpPr/>
          <p:nvPr/>
        </p:nvSpPr>
        <p:spPr>
          <a:xfrm>
            <a:off x="6400800" y="1097280"/>
            <a:ext cx="5029200" cy="2286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188720"/>
            <a:ext cx="4663440" cy="274320"/>
          </a:xfrm>
          <a:prstGeom prst="rect">
            <a:avLst/>
          </a:prstGeom>
          <a:noFill/>
        </p:spPr>
        <p:txBody>
          <a:bodyPr wrap="square">
            <a:spAutoFit/>
          </a:bodyPr>
          <a:lstStyle/>
          <a:p>
            <a:pPr algn="l">
              <a:defRPr sz="1400" b="1">
                <a:solidFill>
                  <a:srgbClr val="14B8A6"/>
                </a:solidFill>
                <a:latin typeface="Segoe UI"/>
              </a:defRPr>
            </a:pPr>
            <a:r>
              <a:t>Entra RBAC Mapping</a:t>
            </a:r>
          </a:p>
        </p:txBody>
      </p:sp>
      <p:sp>
        <p:nvSpPr>
          <p:cNvPr id="6" name="TextBox 5"/>
          <p:cNvSpPr txBox="1"/>
          <p:nvPr/>
        </p:nvSpPr>
        <p:spPr>
          <a:xfrm>
            <a:off x="6583680" y="1554480"/>
            <a:ext cx="4663440" cy="1828800"/>
          </a:xfrm>
          <a:prstGeom prst="rect">
            <a:avLst/>
          </a:prstGeom>
          <a:noFill/>
        </p:spPr>
        <p:txBody>
          <a:bodyPr wrap="square">
            <a:spAutoFit/>
          </a:bodyPr>
          <a:lstStyle/>
          <a:p>
            <a:pPr>
              <a:spcAft>
                <a:spcPts val="400"/>
              </a:spcAft>
              <a:defRPr sz="1100" b="0">
                <a:solidFill>
                  <a:srgbClr val="FFFFFF"/>
                </a:solidFill>
                <a:latin typeface="Segoe UI"/>
              </a:defRPr>
            </a:pPr>
            <a:r>
              <a:t>platform-admins → Platform.Admin</a:t>
            </a:r>
          </a:p>
          <a:p>
            <a:pPr>
              <a:spcAft>
                <a:spcPts val="400"/>
              </a:spcAft>
              <a:defRPr sz="1100" b="0">
                <a:solidFill>
                  <a:srgbClr val="FFFFFF"/>
                </a:solidFill>
                <a:latin typeface="Segoe UI"/>
              </a:defRPr>
            </a:pPr>
            <a:r>
              <a:t>platform-operators → Platform.Operator</a:t>
            </a:r>
          </a:p>
          <a:p>
            <a:pPr>
              <a:spcAft>
                <a:spcPts val="400"/>
              </a:spcAft>
              <a:defRPr sz="1100" b="0">
                <a:solidFill>
                  <a:srgbClr val="FFFFFF"/>
                </a:solidFill>
                <a:latin typeface="Segoe UI"/>
              </a:defRPr>
            </a:pPr>
            <a:r>
              <a:t>agent-developers → Agent.Developer</a:t>
            </a:r>
          </a:p>
          <a:p>
            <a:pPr>
              <a:spcAft>
                <a:spcPts val="400"/>
              </a:spcAft>
              <a:defRPr sz="1100" b="0">
                <a:solidFill>
                  <a:srgbClr val="FFFFFF"/>
                </a:solidFill>
                <a:latin typeface="Segoe UI"/>
              </a:defRPr>
            </a:pPr>
            <a:r>
              <a:t>tenant-basic → Agent.Invoke (tier:basic)</a:t>
            </a:r>
          </a:p>
          <a:p>
            <a:pPr>
              <a:spcAft>
                <a:spcPts val="400"/>
              </a:spcAft>
              <a:defRPr sz="1100" b="0">
                <a:solidFill>
                  <a:srgbClr val="FFFFFF"/>
                </a:solidFill>
                <a:latin typeface="Segoe UI"/>
              </a:defRPr>
            </a:pPr>
            <a:r>
              <a:t>tenant-standard → Agent.Invoke (tier:standard)</a:t>
            </a:r>
          </a:p>
          <a:p>
            <a:pPr>
              <a:spcAft>
                <a:spcPts val="400"/>
              </a:spcAft>
              <a:defRPr sz="1100" b="0">
                <a:solidFill>
                  <a:srgbClr val="FFFFFF"/>
                </a:solidFill>
                <a:latin typeface="Segoe UI"/>
              </a:defRPr>
            </a:pPr>
            <a:r>
              <a:t>tenant-premium → Agent.Invoke (tier:premium)</a:t>
            </a:r>
          </a:p>
        </p:txBody>
      </p:sp>
      <p:sp>
        <p:nvSpPr>
          <p:cNvPr id="7" name="Rectangle 6"/>
          <p:cNvSpPr/>
          <p:nvPr/>
        </p:nvSpPr>
        <p:spPr>
          <a:xfrm>
            <a:off x="731520" y="3840480"/>
            <a:ext cx="10698480" cy="2560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931920"/>
            <a:ext cx="3200400" cy="274320"/>
          </a:xfrm>
          <a:prstGeom prst="rect">
            <a:avLst/>
          </a:prstGeom>
          <a:noFill/>
        </p:spPr>
        <p:txBody>
          <a:bodyPr wrap="square">
            <a:spAutoFit/>
          </a:bodyPr>
          <a:lstStyle/>
          <a:p>
            <a:pPr algn="l">
              <a:defRPr sz="1400" b="1">
                <a:solidFill>
                  <a:srgbClr val="F59E0B"/>
                </a:solidFill>
                <a:latin typeface="Segoe UI"/>
              </a:defRPr>
            </a:pPr>
            <a:r>
              <a:t>Three-Layer Delegation Chain</a:t>
            </a:r>
          </a:p>
        </p:txBody>
      </p:sp>
      <p:sp>
        <p:nvSpPr>
          <p:cNvPr id="9" name="Rectangle 8"/>
          <p:cNvSpPr/>
          <p:nvPr/>
        </p:nvSpPr>
        <p:spPr>
          <a:xfrm>
            <a:off x="731520" y="4389120"/>
            <a:ext cx="3383280" cy="1828800"/>
          </a:xfrm>
          <a:prstGeom prst="rect">
            <a:avLst/>
          </a:prstGeom>
          <a:solidFill>
            <a:srgbClr val="1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480560"/>
            <a:ext cx="3200400" cy="274320"/>
          </a:xfrm>
          <a:prstGeom prst="rect">
            <a:avLst/>
          </a:prstGeom>
          <a:noFill/>
        </p:spPr>
        <p:txBody>
          <a:bodyPr wrap="square">
            <a:spAutoFit/>
          </a:bodyPr>
          <a:lstStyle/>
          <a:p>
            <a:pPr algn="l">
              <a:defRPr sz="1200" b="1">
                <a:solidFill>
                  <a:srgbClr val="FFFFFF"/>
                </a:solidFill>
                <a:latin typeface="Segoe UI"/>
              </a:defRPr>
            </a:pPr>
            <a:r>
              <a:t>1. Authoriser</a:t>
            </a:r>
          </a:p>
        </p:txBody>
      </p:sp>
      <p:sp>
        <p:nvSpPr>
          <p:cNvPr id="11" name="TextBox 10"/>
          <p:cNvSpPr txBox="1"/>
          <p:nvPr/>
        </p:nvSpPr>
        <p:spPr>
          <a:xfrm>
            <a:off x="822960" y="4846320"/>
            <a:ext cx="3200400" cy="1188720"/>
          </a:xfrm>
          <a:prstGeom prst="rect">
            <a:avLst/>
          </a:prstGeom>
          <a:noFill/>
        </p:spPr>
        <p:txBody>
          <a:bodyPr wrap="square">
            <a:spAutoFit/>
          </a:bodyPr>
          <a:lstStyle/>
          <a:p>
            <a:pPr>
              <a:spcAft>
                <a:spcPts val="400"/>
              </a:spcAft>
              <a:defRPr sz="1000" b="0">
                <a:solidFill>
                  <a:srgbClr val="CBD5E1"/>
                </a:solidFill>
                <a:latin typeface="Segoe UI"/>
              </a:defRPr>
            </a:pPr>
            <a:r>
              <a:t>Validates inbound JWT, extracts tenant context</a:t>
            </a:r>
          </a:p>
        </p:txBody>
      </p:sp>
      <p:sp>
        <p:nvSpPr>
          <p:cNvPr id="12" name="Rectangle 11"/>
          <p:cNvSpPr/>
          <p:nvPr/>
        </p:nvSpPr>
        <p:spPr>
          <a:xfrm>
            <a:off x="4297680" y="4389120"/>
            <a:ext cx="3383280" cy="1828800"/>
          </a:xfrm>
          <a:prstGeom prst="rect">
            <a:avLst/>
          </a:prstGeom>
          <a:solidFill>
            <a:srgbClr val="1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4480560"/>
            <a:ext cx="3200400" cy="274320"/>
          </a:xfrm>
          <a:prstGeom prst="rect">
            <a:avLst/>
          </a:prstGeom>
          <a:noFill/>
        </p:spPr>
        <p:txBody>
          <a:bodyPr wrap="square">
            <a:spAutoFit/>
          </a:bodyPr>
          <a:lstStyle/>
          <a:p>
            <a:pPr algn="l">
              <a:defRPr sz="1200" b="1">
                <a:solidFill>
                  <a:srgbClr val="FFFFFF"/>
                </a:solidFill>
                <a:latin typeface="Segoe UI"/>
              </a:defRPr>
            </a:pPr>
            <a:r>
              <a:t>2. Bridge</a:t>
            </a:r>
          </a:p>
        </p:txBody>
      </p:sp>
      <p:sp>
        <p:nvSpPr>
          <p:cNvPr id="14" name="TextBox 13"/>
          <p:cNvSpPr txBox="1"/>
          <p:nvPr/>
        </p:nvSpPr>
        <p:spPr>
          <a:xfrm>
            <a:off x="4389120" y="4846320"/>
            <a:ext cx="3200400" cy="1188720"/>
          </a:xfrm>
          <a:prstGeom prst="rect">
            <a:avLst/>
          </a:prstGeom>
          <a:noFill/>
        </p:spPr>
        <p:txBody>
          <a:bodyPr wrap="square">
            <a:spAutoFit/>
          </a:bodyPr>
          <a:lstStyle/>
          <a:p>
            <a:pPr>
              <a:spcAft>
                <a:spcPts val="400"/>
              </a:spcAft>
              <a:defRPr sz="1000" b="0">
                <a:solidFill>
                  <a:srgbClr val="CBD5E1"/>
                </a:solidFill>
                <a:latin typeface="Segoe UI"/>
              </a:defRPr>
            </a:pPr>
            <a:r>
              <a:t>Assumes tenant-specific IAM execution role via STS</a:t>
            </a:r>
          </a:p>
          <a:p>
            <a:pPr>
              <a:spcAft>
                <a:spcPts val="400"/>
              </a:spcAft>
              <a:defRPr sz="1000" b="0">
                <a:solidFill>
                  <a:srgbClr val="CBD5E1"/>
                </a:solidFill>
                <a:latin typeface="Segoe UI"/>
              </a:defRPr>
            </a:pPr>
            <a:r>
              <a:t>Temporary credentials scoped to tenant resources</a:t>
            </a:r>
          </a:p>
        </p:txBody>
      </p:sp>
      <p:sp>
        <p:nvSpPr>
          <p:cNvPr id="15" name="Rectangle 14"/>
          <p:cNvSpPr/>
          <p:nvPr/>
        </p:nvSpPr>
        <p:spPr>
          <a:xfrm>
            <a:off x="7863840" y="4389120"/>
            <a:ext cx="3383280" cy="1828800"/>
          </a:xfrm>
          <a:prstGeom prst="rect">
            <a:avLst/>
          </a:prstGeom>
          <a:solidFill>
            <a:srgbClr val="15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4480560"/>
            <a:ext cx="3200400" cy="274320"/>
          </a:xfrm>
          <a:prstGeom prst="rect">
            <a:avLst/>
          </a:prstGeom>
          <a:noFill/>
        </p:spPr>
        <p:txBody>
          <a:bodyPr wrap="square">
            <a:spAutoFit/>
          </a:bodyPr>
          <a:lstStyle/>
          <a:p>
            <a:pPr algn="l">
              <a:defRPr sz="1200" b="1">
                <a:solidFill>
                  <a:srgbClr val="FFFFFF"/>
                </a:solidFill>
                <a:latin typeface="Segoe UI"/>
              </a:defRPr>
            </a:pPr>
            <a:r>
              <a:t>3. REQUEST Interceptor</a:t>
            </a:r>
          </a:p>
        </p:txBody>
      </p:sp>
      <p:sp>
        <p:nvSpPr>
          <p:cNvPr id="17" name="TextBox 16"/>
          <p:cNvSpPr txBox="1"/>
          <p:nvPr/>
        </p:nvSpPr>
        <p:spPr>
          <a:xfrm>
            <a:off x="7955279" y="4846320"/>
            <a:ext cx="3200400" cy="1188720"/>
          </a:xfrm>
          <a:prstGeom prst="rect">
            <a:avLst/>
          </a:prstGeom>
          <a:noFill/>
        </p:spPr>
        <p:txBody>
          <a:bodyPr wrap="square">
            <a:spAutoFit/>
          </a:bodyPr>
          <a:lstStyle/>
          <a:p>
            <a:pPr>
              <a:spcAft>
                <a:spcPts val="400"/>
              </a:spcAft>
              <a:defRPr sz="1000" b="0">
                <a:solidFill>
                  <a:srgbClr val="CBD5E1"/>
                </a:solidFill>
                <a:latin typeface="Segoe UI"/>
              </a:defRPr>
            </a:pPr>
            <a:r>
              <a:t>Exchanges credentials for short-lived,</a:t>
            </a:r>
          </a:p>
          <a:p>
            <a:pPr>
              <a:spcAft>
                <a:spcPts val="400"/>
              </a:spcAft>
              <a:defRPr sz="1000" b="0">
                <a:solidFill>
                  <a:srgbClr val="CBD5E1"/>
                </a:solidFill>
                <a:latin typeface="Segoe UI"/>
              </a:defRPr>
            </a:pPr>
            <a:r>
              <a:t>tool-specific act-on-behalf token (5 min TTL)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Data Model — Seven DynamoDB Tables</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400" b="0">
                <a:solidFill>
                  <a:srgbClr val="14B8A6"/>
                </a:solidFill>
                <a:latin typeface="Segoe UI"/>
              </a:defRPr>
            </a:pPr>
            <a:r>
              <a:t>All tables: PITR, KMS encryption, deletion protection in staging/prod.</a:t>
            </a:r>
          </a:p>
        </p:txBody>
      </p:sp>
      <p:sp>
        <p:nvSpPr>
          <p:cNvPr id="4" name="Rectangle 3"/>
          <p:cNvSpPr/>
          <p:nvPr/>
        </p:nvSpPr>
        <p:spPr>
          <a:xfrm>
            <a:off x="731520" y="1554480"/>
            <a:ext cx="1069848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560320" cy="274320"/>
          </a:xfrm>
          <a:prstGeom prst="rect">
            <a:avLst/>
          </a:prstGeom>
          <a:noFill/>
        </p:spPr>
        <p:txBody>
          <a:bodyPr wrap="square">
            <a:spAutoFit/>
          </a:bodyPr>
          <a:lstStyle/>
          <a:p>
            <a:pPr algn="l">
              <a:defRPr sz="1200" b="1">
                <a:solidFill>
                  <a:srgbClr val="3B82F6"/>
                </a:solidFill>
                <a:latin typeface="Segoe UI"/>
              </a:defRPr>
            </a:pPr>
            <a:r>
              <a:t>platform-tenants</a:t>
            </a:r>
          </a:p>
        </p:txBody>
      </p:sp>
      <p:sp>
        <p:nvSpPr>
          <p:cNvPr id="6" name="TextBox 5"/>
          <p:cNvSpPr txBox="1"/>
          <p:nvPr/>
        </p:nvSpPr>
        <p:spPr>
          <a:xfrm>
            <a:off x="3566160" y="1600200"/>
            <a:ext cx="2286000" cy="274320"/>
          </a:xfrm>
          <a:prstGeom prst="rect">
            <a:avLst/>
          </a:prstGeom>
          <a:noFill/>
        </p:spPr>
        <p:txBody>
          <a:bodyPr wrap="square">
            <a:spAutoFit/>
          </a:bodyPr>
          <a:lstStyle/>
          <a:p>
            <a:pPr algn="l">
              <a:defRPr sz="1000" b="0">
                <a:solidFill>
                  <a:srgbClr val="14B8A6"/>
                </a:solidFill>
                <a:latin typeface="Segoe UI"/>
              </a:defRPr>
            </a:pPr>
            <a:r>
              <a:t>TENANT#{tenantId}</a:t>
            </a:r>
          </a:p>
        </p:txBody>
      </p:sp>
      <p:sp>
        <p:nvSpPr>
          <p:cNvPr id="7" name="TextBox 6"/>
          <p:cNvSpPr txBox="1"/>
          <p:nvPr/>
        </p:nvSpPr>
        <p:spPr>
          <a:xfrm>
            <a:off x="5943600" y="1600200"/>
            <a:ext cx="4114800" cy="274320"/>
          </a:xfrm>
          <a:prstGeom prst="rect">
            <a:avLst/>
          </a:prstGeom>
          <a:noFill/>
        </p:spPr>
        <p:txBody>
          <a:bodyPr wrap="square">
            <a:spAutoFit/>
          </a:bodyPr>
          <a:lstStyle/>
          <a:p>
            <a:pPr algn="l">
              <a:defRPr sz="1000" b="0">
                <a:solidFill>
                  <a:srgbClr val="CBD5E1"/>
                </a:solidFill>
                <a:latin typeface="Segoe UI"/>
              </a:defRPr>
            </a:pPr>
            <a:r>
              <a:t>Tenant registry, metadata, lifecycle</a:t>
            </a:r>
          </a:p>
        </p:txBody>
      </p:sp>
      <p:sp>
        <p:nvSpPr>
          <p:cNvPr id="8" name="TextBox 7"/>
          <p:cNvSpPr txBox="1"/>
          <p:nvPr/>
        </p:nvSpPr>
        <p:spPr>
          <a:xfrm>
            <a:off x="10241280" y="1600200"/>
            <a:ext cx="1097280" cy="274320"/>
          </a:xfrm>
          <a:prstGeom prst="rect">
            <a:avLst/>
          </a:prstGeom>
          <a:noFill/>
        </p:spPr>
        <p:txBody>
          <a:bodyPr wrap="square">
            <a:spAutoFit/>
          </a:bodyPr>
          <a:lstStyle/>
          <a:p>
            <a:pPr algn="l">
              <a:defRPr sz="900" b="0">
                <a:solidFill>
                  <a:srgbClr val="94A3B8"/>
                </a:solidFill>
                <a:latin typeface="Segoe UI"/>
              </a:defRPr>
            </a:pPr>
            <a:r>
              <a:t>Provisioned</a:t>
            </a:r>
          </a:p>
        </p:txBody>
      </p:sp>
      <p:sp>
        <p:nvSpPr>
          <p:cNvPr id="9" name="Rectangle 8"/>
          <p:cNvSpPr/>
          <p:nvPr/>
        </p:nvSpPr>
        <p:spPr>
          <a:xfrm>
            <a:off x="731520" y="2212848"/>
            <a:ext cx="1069848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58568"/>
            <a:ext cx="2560320" cy="274320"/>
          </a:xfrm>
          <a:prstGeom prst="rect">
            <a:avLst/>
          </a:prstGeom>
          <a:noFill/>
        </p:spPr>
        <p:txBody>
          <a:bodyPr wrap="square">
            <a:spAutoFit/>
          </a:bodyPr>
          <a:lstStyle/>
          <a:p>
            <a:pPr algn="l">
              <a:defRPr sz="1200" b="1">
                <a:solidFill>
                  <a:srgbClr val="3B82F6"/>
                </a:solidFill>
                <a:latin typeface="Segoe UI"/>
              </a:defRPr>
            </a:pPr>
            <a:r>
              <a:t>platform-agents</a:t>
            </a:r>
          </a:p>
        </p:txBody>
      </p:sp>
      <p:sp>
        <p:nvSpPr>
          <p:cNvPr id="11" name="TextBox 10"/>
          <p:cNvSpPr txBox="1"/>
          <p:nvPr/>
        </p:nvSpPr>
        <p:spPr>
          <a:xfrm>
            <a:off x="3566160" y="2258568"/>
            <a:ext cx="2286000" cy="274320"/>
          </a:xfrm>
          <a:prstGeom prst="rect">
            <a:avLst/>
          </a:prstGeom>
          <a:noFill/>
        </p:spPr>
        <p:txBody>
          <a:bodyPr wrap="square">
            <a:spAutoFit/>
          </a:bodyPr>
          <a:lstStyle/>
          <a:p>
            <a:pPr algn="l">
              <a:defRPr sz="1000" b="0">
                <a:solidFill>
                  <a:srgbClr val="14B8A6"/>
                </a:solidFill>
                <a:latin typeface="Segoe UI"/>
              </a:defRPr>
            </a:pPr>
            <a:r>
              <a:t>AGENT#{agentName}</a:t>
            </a:r>
          </a:p>
        </p:txBody>
      </p:sp>
      <p:sp>
        <p:nvSpPr>
          <p:cNvPr id="12" name="TextBox 11"/>
          <p:cNvSpPr txBox="1"/>
          <p:nvPr/>
        </p:nvSpPr>
        <p:spPr>
          <a:xfrm>
            <a:off x="5943600" y="2258568"/>
            <a:ext cx="4114800" cy="274320"/>
          </a:xfrm>
          <a:prstGeom prst="rect">
            <a:avLst/>
          </a:prstGeom>
          <a:noFill/>
        </p:spPr>
        <p:txBody>
          <a:bodyPr wrap="square">
            <a:spAutoFit/>
          </a:bodyPr>
          <a:lstStyle/>
          <a:p>
            <a:pPr algn="l">
              <a:defRPr sz="1000" b="0">
                <a:solidFill>
                  <a:srgbClr val="CBD5E1"/>
                </a:solidFill>
                <a:latin typeface="Segoe UI"/>
              </a:defRPr>
            </a:pPr>
            <a:r>
              <a:t>Agent registry, versions, deployment state</a:t>
            </a:r>
          </a:p>
        </p:txBody>
      </p:sp>
      <p:sp>
        <p:nvSpPr>
          <p:cNvPr id="13" name="TextBox 12"/>
          <p:cNvSpPr txBox="1"/>
          <p:nvPr/>
        </p:nvSpPr>
        <p:spPr>
          <a:xfrm>
            <a:off x="10241280" y="2258568"/>
            <a:ext cx="1097280" cy="274320"/>
          </a:xfrm>
          <a:prstGeom prst="rect">
            <a:avLst/>
          </a:prstGeom>
          <a:noFill/>
        </p:spPr>
        <p:txBody>
          <a:bodyPr wrap="square">
            <a:spAutoFit/>
          </a:bodyPr>
          <a:lstStyle/>
          <a:p>
            <a:pPr algn="l">
              <a:defRPr sz="900" b="0">
                <a:solidFill>
                  <a:srgbClr val="94A3B8"/>
                </a:solidFill>
                <a:latin typeface="Segoe UI"/>
              </a:defRPr>
            </a:pPr>
            <a:r>
              <a:t>Provisioned</a:t>
            </a:r>
          </a:p>
        </p:txBody>
      </p:sp>
      <p:sp>
        <p:nvSpPr>
          <p:cNvPr id="14" name="Rectangle 13"/>
          <p:cNvSpPr/>
          <p:nvPr/>
        </p:nvSpPr>
        <p:spPr>
          <a:xfrm>
            <a:off x="731520" y="2871215"/>
            <a:ext cx="1069848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916935"/>
            <a:ext cx="2560320" cy="274320"/>
          </a:xfrm>
          <a:prstGeom prst="rect">
            <a:avLst/>
          </a:prstGeom>
          <a:noFill/>
        </p:spPr>
        <p:txBody>
          <a:bodyPr wrap="square">
            <a:spAutoFit/>
          </a:bodyPr>
          <a:lstStyle/>
          <a:p>
            <a:pPr algn="l">
              <a:defRPr sz="1200" b="1">
                <a:solidFill>
                  <a:srgbClr val="3B82F6"/>
                </a:solidFill>
                <a:latin typeface="Segoe UI"/>
              </a:defRPr>
            </a:pPr>
            <a:r>
              <a:t>platform-invocations</a:t>
            </a:r>
          </a:p>
        </p:txBody>
      </p:sp>
      <p:sp>
        <p:nvSpPr>
          <p:cNvPr id="16" name="TextBox 15"/>
          <p:cNvSpPr txBox="1"/>
          <p:nvPr/>
        </p:nvSpPr>
        <p:spPr>
          <a:xfrm>
            <a:off x="3566160" y="2916935"/>
            <a:ext cx="2286000" cy="274320"/>
          </a:xfrm>
          <a:prstGeom prst="rect">
            <a:avLst/>
          </a:prstGeom>
          <a:noFill/>
        </p:spPr>
        <p:txBody>
          <a:bodyPr wrap="square">
            <a:spAutoFit/>
          </a:bodyPr>
          <a:lstStyle/>
          <a:p>
            <a:pPr algn="l">
              <a:defRPr sz="1000" b="0">
                <a:solidFill>
                  <a:srgbClr val="14B8A6"/>
                </a:solidFill>
                <a:latin typeface="Segoe UI"/>
              </a:defRPr>
            </a:pPr>
            <a:r>
              <a:t>TENANT#{tenantId}</a:t>
            </a:r>
          </a:p>
        </p:txBody>
      </p:sp>
      <p:sp>
        <p:nvSpPr>
          <p:cNvPr id="17" name="TextBox 16"/>
          <p:cNvSpPr txBox="1"/>
          <p:nvPr/>
        </p:nvSpPr>
        <p:spPr>
          <a:xfrm>
            <a:off x="5943600" y="2916935"/>
            <a:ext cx="4114800" cy="274320"/>
          </a:xfrm>
          <a:prstGeom prst="rect">
            <a:avLst/>
          </a:prstGeom>
          <a:noFill/>
        </p:spPr>
        <p:txBody>
          <a:bodyPr wrap="square">
            <a:spAutoFit/>
          </a:bodyPr>
          <a:lstStyle/>
          <a:p>
            <a:pPr algn="l">
              <a:defRPr sz="1000" b="0">
                <a:solidFill>
                  <a:srgbClr val="CBD5E1"/>
                </a:solidFill>
                <a:latin typeface="Segoe UI"/>
              </a:defRPr>
            </a:pPr>
            <a:r>
              <a:t>Invocation audit log (90d TTL, jitter SK)</a:t>
            </a:r>
          </a:p>
        </p:txBody>
      </p:sp>
      <p:sp>
        <p:nvSpPr>
          <p:cNvPr id="18" name="TextBox 17"/>
          <p:cNvSpPr txBox="1"/>
          <p:nvPr/>
        </p:nvSpPr>
        <p:spPr>
          <a:xfrm>
            <a:off x="10241280" y="2916935"/>
            <a:ext cx="1097280" cy="274320"/>
          </a:xfrm>
          <a:prstGeom prst="rect">
            <a:avLst/>
          </a:prstGeom>
          <a:noFill/>
        </p:spPr>
        <p:txBody>
          <a:bodyPr wrap="square">
            <a:spAutoFit/>
          </a:bodyPr>
          <a:lstStyle/>
          <a:p>
            <a:pPr algn="l">
              <a:defRPr sz="900" b="0">
                <a:solidFill>
                  <a:srgbClr val="94A3B8"/>
                </a:solidFill>
                <a:latin typeface="Segoe UI"/>
              </a:defRPr>
            </a:pPr>
            <a:r>
              <a:t>On-demand</a:t>
            </a:r>
          </a:p>
        </p:txBody>
      </p:sp>
      <p:sp>
        <p:nvSpPr>
          <p:cNvPr id="19" name="Rectangle 18"/>
          <p:cNvSpPr/>
          <p:nvPr/>
        </p:nvSpPr>
        <p:spPr>
          <a:xfrm>
            <a:off x="731520" y="3529583"/>
            <a:ext cx="1069848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575303"/>
            <a:ext cx="2560320" cy="274320"/>
          </a:xfrm>
          <a:prstGeom prst="rect">
            <a:avLst/>
          </a:prstGeom>
          <a:noFill/>
        </p:spPr>
        <p:txBody>
          <a:bodyPr wrap="square">
            <a:spAutoFit/>
          </a:bodyPr>
          <a:lstStyle/>
          <a:p>
            <a:pPr algn="l">
              <a:defRPr sz="1200" b="1">
                <a:solidFill>
                  <a:srgbClr val="3B82F6"/>
                </a:solidFill>
                <a:latin typeface="Segoe UI"/>
              </a:defRPr>
            </a:pPr>
            <a:r>
              <a:t>platform-jobs</a:t>
            </a:r>
          </a:p>
        </p:txBody>
      </p:sp>
      <p:sp>
        <p:nvSpPr>
          <p:cNvPr id="21" name="TextBox 20"/>
          <p:cNvSpPr txBox="1"/>
          <p:nvPr/>
        </p:nvSpPr>
        <p:spPr>
          <a:xfrm>
            <a:off x="3566160" y="3575303"/>
            <a:ext cx="2286000" cy="274320"/>
          </a:xfrm>
          <a:prstGeom prst="rect">
            <a:avLst/>
          </a:prstGeom>
          <a:noFill/>
        </p:spPr>
        <p:txBody>
          <a:bodyPr wrap="square">
            <a:spAutoFit/>
          </a:bodyPr>
          <a:lstStyle/>
          <a:p>
            <a:pPr algn="l">
              <a:defRPr sz="1000" b="0">
                <a:solidFill>
                  <a:srgbClr val="14B8A6"/>
                </a:solidFill>
                <a:latin typeface="Segoe UI"/>
              </a:defRPr>
            </a:pPr>
            <a:r>
              <a:t>TENANT#{tenantId}</a:t>
            </a:r>
          </a:p>
        </p:txBody>
      </p:sp>
      <p:sp>
        <p:nvSpPr>
          <p:cNvPr id="22" name="TextBox 21"/>
          <p:cNvSpPr txBox="1"/>
          <p:nvPr/>
        </p:nvSpPr>
        <p:spPr>
          <a:xfrm>
            <a:off x="5943600" y="3575303"/>
            <a:ext cx="4114800" cy="274320"/>
          </a:xfrm>
          <a:prstGeom prst="rect">
            <a:avLst/>
          </a:prstGeom>
          <a:noFill/>
        </p:spPr>
        <p:txBody>
          <a:bodyPr wrap="square">
            <a:spAutoFit/>
          </a:bodyPr>
          <a:lstStyle/>
          <a:p>
            <a:pPr algn="l">
              <a:defRPr sz="1000" b="0">
                <a:solidFill>
                  <a:srgbClr val="CBD5E1"/>
                </a:solidFill>
                <a:latin typeface="Segoe UI"/>
              </a:defRPr>
            </a:pPr>
            <a:r>
              <a:t>Async job tracking (7d TTL)</a:t>
            </a:r>
          </a:p>
        </p:txBody>
      </p:sp>
      <p:sp>
        <p:nvSpPr>
          <p:cNvPr id="23" name="TextBox 22"/>
          <p:cNvSpPr txBox="1"/>
          <p:nvPr/>
        </p:nvSpPr>
        <p:spPr>
          <a:xfrm>
            <a:off x="10241280" y="3575303"/>
            <a:ext cx="1097280" cy="274320"/>
          </a:xfrm>
          <a:prstGeom prst="rect">
            <a:avLst/>
          </a:prstGeom>
          <a:noFill/>
        </p:spPr>
        <p:txBody>
          <a:bodyPr wrap="square">
            <a:spAutoFit/>
          </a:bodyPr>
          <a:lstStyle/>
          <a:p>
            <a:pPr algn="l">
              <a:defRPr sz="900" b="0">
                <a:solidFill>
                  <a:srgbClr val="94A3B8"/>
                </a:solidFill>
                <a:latin typeface="Segoe UI"/>
              </a:defRPr>
            </a:pPr>
            <a:r>
              <a:t>On-demand</a:t>
            </a:r>
          </a:p>
        </p:txBody>
      </p:sp>
      <p:sp>
        <p:nvSpPr>
          <p:cNvPr id="24" name="Rectangle 23"/>
          <p:cNvSpPr/>
          <p:nvPr/>
        </p:nvSpPr>
        <p:spPr>
          <a:xfrm>
            <a:off x="731520" y="4187951"/>
            <a:ext cx="1069848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233671"/>
            <a:ext cx="2560320" cy="274320"/>
          </a:xfrm>
          <a:prstGeom prst="rect">
            <a:avLst/>
          </a:prstGeom>
          <a:noFill/>
        </p:spPr>
        <p:txBody>
          <a:bodyPr wrap="square">
            <a:spAutoFit/>
          </a:bodyPr>
          <a:lstStyle/>
          <a:p>
            <a:pPr algn="l">
              <a:defRPr sz="1200" b="1">
                <a:solidFill>
                  <a:srgbClr val="3B82F6"/>
                </a:solidFill>
                <a:latin typeface="Segoe UI"/>
              </a:defRPr>
            </a:pPr>
            <a:r>
              <a:t>platform-sessions</a:t>
            </a:r>
          </a:p>
        </p:txBody>
      </p:sp>
      <p:sp>
        <p:nvSpPr>
          <p:cNvPr id="26" name="TextBox 25"/>
          <p:cNvSpPr txBox="1"/>
          <p:nvPr/>
        </p:nvSpPr>
        <p:spPr>
          <a:xfrm>
            <a:off x="3566160" y="4233671"/>
            <a:ext cx="2286000" cy="274320"/>
          </a:xfrm>
          <a:prstGeom prst="rect">
            <a:avLst/>
          </a:prstGeom>
          <a:noFill/>
        </p:spPr>
        <p:txBody>
          <a:bodyPr wrap="square">
            <a:spAutoFit/>
          </a:bodyPr>
          <a:lstStyle/>
          <a:p>
            <a:pPr algn="l">
              <a:defRPr sz="1000" b="0">
                <a:solidFill>
                  <a:srgbClr val="14B8A6"/>
                </a:solidFill>
                <a:latin typeface="Segoe UI"/>
              </a:defRPr>
            </a:pPr>
            <a:r>
              <a:t>TENANT#{tenantId}</a:t>
            </a:r>
          </a:p>
        </p:txBody>
      </p:sp>
      <p:sp>
        <p:nvSpPr>
          <p:cNvPr id="27" name="TextBox 26"/>
          <p:cNvSpPr txBox="1"/>
          <p:nvPr/>
        </p:nvSpPr>
        <p:spPr>
          <a:xfrm>
            <a:off x="5943600" y="4233671"/>
            <a:ext cx="4114800" cy="274320"/>
          </a:xfrm>
          <a:prstGeom prst="rect">
            <a:avLst/>
          </a:prstGeom>
          <a:noFill/>
        </p:spPr>
        <p:txBody>
          <a:bodyPr wrap="square">
            <a:spAutoFit/>
          </a:bodyPr>
          <a:lstStyle/>
          <a:p>
            <a:pPr algn="l">
              <a:defRPr sz="1000" b="0">
                <a:solidFill>
                  <a:srgbClr val="CBD5E1"/>
                </a:solidFill>
                <a:latin typeface="Segoe UI"/>
              </a:defRPr>
            </a:pPr>
            <a:r>
              <a:t>Active session tracking (24h TTL)</a:t>
            </a:r>
          </a:p>
        </p:txBody>
      </p:sp>
      <p:sp>
        <p:nvSpPr>
          <p:cNvPr id="28" name="TextBox 27"/>
          <p:cNvSpPr txBox="1"/>
          <p:nvPr/>
        </p:nvSpPr>
        <p:spPr>
          <a:xfrm>
            <a:off x="10241280" y="4233671"/>
            <a:ext cx="1097280" cy="274320"/>
          </a:xfrm>
          <a:prstGeom prst="rect">
            <a:avLst/>
          </a:prstGeom>
          <a:noFill/>
        </p:spPr>
        <p:txBody>
          <a:bodyPr wrap="square">
            <a:spAutoFit/>
          </a:bodyPr>
          <a:lstStyle/>
          <a:p>
            <a:pPr algn="l">
              <a:defRPr sz="900" b="0">
                <a:solidFill>
                  <a:srgbClr val="94A3B8"/>
                </a:solidFill>
                <a:latin typeface="Segoe UI"/>
              </a:defRPr>
            </a:pPr>
            <a:r>
              <a:t>On-demand</a:t>
            </a:r>
          </a:p>
        </p:txBody>
      </p:sp>
      <p:sp>
        <p:nvSpPr>
          <p:cNvPr id="29" name="Rectangle 28"/>
          <p:cNvSpPr/>
          <p:nvPr/>
        </p:nvSpPr>
        <p:spPr>
          <a:xfrm>
            <a:off x="731520" y="4846319"/>
            <a:ext cx="1069848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892039"/>
            <a:ext cx="2560320" cy="274320"/>
          </a:xfrm>
          <a:prstGeom prst="rect">
            <a:avLst/>
          </a:prstGeom>
          <a:noFill/>
        </p:spPr>
        <p:txBody>
          <a:bodyPr wrap="square">
            <a:spAutoFit/>
          </a:bodyPr>
          <a:lstStyle/>
          <a:p>
            <a:pPr algn="l">
              <a:defRPr sz="1200" b="1">
                <a:solidFill>
                  <a:srgbClr val="3B82F6"/>
                </a:solidFill>
                <a:latin typeface="Segoe UI"/>
              </a:defRPr>
            </a:pPr>
            <a:r>
              <a:t>platform-tools</a:t>
            </a:r>
          </a:p>
        </p:txBody>
      </p:sp>
      <p:sp>
        <p:nvSpPr>
          <p:cNvPr id="31" name="TextBox 30"/>
          <p:cNvSpPr txBox="1"/>
          <p:nvPr/>
        </p:nvSpPr>
        <p:spPr>
          <a:xfrm>
            <a:off x="3566160" y="4892039"/>
            <a:ext cx="2286000" cy="274320"/>
          </a:xfrm>
          <a:prstGeom prst="rect">
            <a:avLst/>
          </a:prstGeom>
          <a:noFill/>
        </p:spPr>
        <p:txBody>
          <a:bodyPr wrap="square">
            <a:spAutoFit/>
          </a:bodyPr>
          <a:lstStyle/>
          <a:p>
            <a:pPr algn="l">
              <a:defRPr sz="1000" b="0">
                <a:solidFill>
                  <a:srgbClr val="14B8A6"/>
                </a:solidFill>
                <a:latin typeface="Segoe UI"/>
              </a:defRPr>
            </a:pPr>
            <a:r>
              <a:t>TOOL#{toolName}</a:t>
            </a:r>
          </a:p>
        </p:txBody>
      </p:sp>
      <p:sp>
        <p:nvSpPr>
          <p:cNvPr id="32" name="TextBox 31"/>
          <p:cNvSpPr txBox="1"/>
          <p:nvPr/>
        </p:nvSpPr>
        <p:spPr>
          <a:xfrm>
            <a:off x="5943600" y="4892039"/>
            <a:ext cx="4114800" cy="274320"/>
          </a:xfrm>
          <a:prstGeom prst="rect">
            <a:avLst/>
          </a:prstGeom>
          <a:noFill/>
        </p:spPr>
        <p:txBody>
          <a:bodyPr wrap="square">
            <a:spAutoFit/>
          </a:bodyPr>
          <a:lstStyle/>
          <a:p>
            <a:pPr algn="l">
              <a:defRPr sz="1000" b="0">
                <a:solidFill>
                  <a:srgbClr val="CBD5E1"/>
                </a:solidFill>
                <a:latin typeface="Segoe UI"/>
              </a:defRPr>
            </a:pPr>
            <a:r>
              <a:t>Gateway tool registry, tier filtering</a:t>
            </a:r>
          </a:p>
        </p:txBody>
      </p:sp>
      <p:sp>
        <p:nvSpPr>
          <p:cNvPr id="33" name="TextBox 32"/>
          <p:cNvSpPr txBox="1"/>
          <p:nvPr/>
        </p:nvSpPr>
        <p:spPr>
          <a:xfrm>
            <a:off x="10241280" y="4892039"/>
            <a:ext cx="1097280" cy="274320"/>
          </a:xfrm>
          <a:prstGeom prst="rect">
            <a:avLst/>
          </a:prstGeom>
          <a:noFill/>
        </p:spPr>
        <p:txBody>
          <a:bodyPr wrap="square">
            <a:spAutoFit/>
          </a:bodyPr>
          <a:lstStyle/>
          <a:p>
            <a:pPr algn="l">
              <a:defRPr sz="900" b="0">
                <a:solidFill>
                  <a:srgbClr val="94A3B8"/>
                </a:solidFill>
                <a:latin typeface="Segoe UI"/>
              </a:defRPr>
            </a:pPr>
            <a:r>
              <a:t>Provisioned</a:t>
            </a:r>
          </a:p>
        </p:txBody>
      </p:sp>
      <p:sp>
        <p:nvSpPr>
          <p:cNvPr id="34" name="Rectangle 33"/>
          <p:cNvSpPr/>
          <p:nvPr/>
        </p:nvSpPr>
        <p:spPr>
          <a:xfrm>
            <a:off x="731520" y="5504687"/>
            <a:ext cx="1069848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550407"/>
            <a:ext cx="2560320" cy="274320"/>
          </a:xfrm>
          <a:prstGeom prst="rect">
            <a:avLst/>
          </a:prstGeom>
          <a:noFill/>
        </p:spPr>
        <p:txBody>
          <a:bodyPr wrap="square">
            <a:spAutoFit/>
          </a:bodyPr>
          <a:lstStyle/>
          <a:p>
            <a:pPr algn="l">
              <a:defRPr sz="1200" b="1">
                <a:solidFill>
                  <a:srgbClr val="3B82F6"/>
                </a:solidFill>
                <a:latin typeface="Segoe UI"/>
              </a:defRPr>
            </a:pPr>
            <a:r>
              <a:t>platform-ops-locks</a:t>
            </a:r>
          </a:p>
        </p:txBody>
      </p:sp>
      <p:sp>
        <p:nvSpPr>
          <p:cNvPr id="36" name="TextBox 35"/>
          <p:cNvSpPr txBox="1"/>
          <p:nvPr/>
        </p:nvSpPr>
        <p:spPr>
          <a:xfrm>
            <a:off x="3566160" y="5550407"/>
            <a:ext cx="2286000" cy="274320"/>
          </a:xfrm>
          <a:prstGeom prst="rect">
            <a:avLst/>
          </a:prstGeom>
          <a:noFill/>
        </p:spPr>
        <p:txBody>
          <a:bodyPr wrap="square">
            <a:spAutoFit/>
          </a:bodyPr>
          <a:lstStyle/>
          <a:p>
            <a:pPr algn="l">
              <a:defRPr sz="1000" b="0">
                <a:solidFill>
                  <a:srgbClr val="14B8A6"/>
                </a:solidFill>
                <a:latin typeface="Segoe UI"/>
              </a:defRPr>
            </a:pPr>
            <a:r>
              <a:t>LOCK#{lockName}</a:t>
            </a:r>
          </a:p>
        </p:txBody>
      </p:sp>
      <p:sp>
        <p:nvSpPr>
          <p:cNvPr id="37" name="TextBox 36"/>
          <p:cNvSpPr txBox="1"/>
          <p:nvPr/>
        </p:nvSpPr>
        <p:spPr>
          <a:xfrm>
            <a:off x="5943600" y="5550407"/>
            <a:ext cx="4114800" cy="274320"/>
          </a:xfrm>
          <a:prstGeom prst="rect">
            <a:avLst/>
          </a:prstGeom>
          <a:noFill/>
        </p:spPr>
        <p:txBody>
          <a:bodyPr wrap="square">
            <a:spAutoFit/>
          </a:bodyPr>
          <a:lstStyle/>
          <a:p>
            <a:pPr algn="l">
              <a:defRPr sz="1000" b="0">
                <a:solidFill>
                  <a:srgbClr val="CBD5E1"/>
                </a:solidFill>
                <a:latin typeface="Segoe UI"/>
              </a:defRPr>
            </a:pPr>
            <a:r>
              <a:t>Distributed locks (5min auto-expire)</a:t>
            </a:r>
          </a:p>
        </p:txBody>
      </p:sp>
      <p:sp>
        <p:nvSpPr>
          <p:cNvPr id="38" name="TextBox 37"/>
          <p:cNvSpPr txBox="1"/>
          <p:nvPr/>
        </p:nvSpPr>
        <p:spPr>
          <a:xfrm>
            <a:off x="10241280" y="5550407"/>
            <a:ext cx="1097280" cy="274320"/>
          </a:xfrm>
          <a:prstGeom prst="rect">
            <a:avLst/>
          </a:prstGeom>
          <a:noFill/>
        </p:spPr>
        <p:txBody>
          <a:bodyPr wrap="square">
            <a:spAutoFit/>
          </a:bodyPr>
          <a:lstStyle/>
          <a:p>
            <a:pPr algn="l">
              <a:defRPr sz="900" b="0">
                <a:solidFill>
                  <a:srgbClr val="94A3B8"/>
                </a:solidFill>
                <a:latin typeface="Segoe UI"/>
              </a:defRPr>
            </a:pPr>
            <a:r>
              <a:t>On-demand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CDK Infrastructure — Six Stacks</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400" b="0">
                <a:solidFill>
                  <a:srgbClr val="CBD5E1"/>
                </a:solidFill>
                <a:latin typeface="Segoe UI"/>
              </a:defRPr>
            </a:pPr>
            <a:r>
              <a:t>Strict TypeScript. Jest + cdk-assertions. cfn-guard security policy. No wildcard IAM.</a:t>
            </a:r>
          </a:p>
        </p:txBody>
      </p:sp>
      <p:sp>
        <p:nvSpPr>
          <p:cNvPr id="4" name="Rectangle 3"/>
          <p:cNvSpPr/>
          <p:nvPr/>
        </p:nvSpPr>
        <p:spPr>
          <a:xfrm>
            <a:off x="731520" y="1645920"/>
            <a:ext cx="10698480" cy="6583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19072"/>
            <a:ext cx="274320" cy="274320"/>
          </a:xfrm>
          <a:prstGeom prst="rect">
            <a:avLst/>
          </a:prstGeom>
          <a:noFill/>
        </p:spPr>
        <p:txBody>
          <a:bodyPr wrap="square">
            <a:spAutoFit/>
          </a:bodyPr>
          <a:lstStyle/>
          <a:p>
            <a:pPr algn="l">
              <a:defRPr sz="1400" b="1">
                <a:solidFill>
                  <a:srgbClr val="3B82F6"/>
                </a:solidFill>
                <a:latin typeface="Segoe UI"/>
              </a:defRPr>
            </a:pPr>
            <a:r>
              <a:t>1</a:t>
            </a:r>
          </a:p>
        </p:txBody>
      </p:sp>
      <p:sp>
        <p:nvSpPr>
          <p:cNvPr id="6" name="TextBox 5"/>
          <p:cNvSpPr txBox="1"/>
          <p:nvPr/>
        </p:nvSpPr>
        <p:spPr>
          <a:xfrm>
            <a:off x="1280160" y="1719072"/>
            <a:ext cx="2560320" cy="274320"/>
          </a:xfrm>
          <a:prstGeom prst="rect">
            <a:avLst/>
          </a:prstGeom>
          <a:noFill/>
        </p:spPr>
        <p:txBody>
          <a:bodyPr wrap="square">
            <a:spAutoFit/>
          </a:bodyPr>
          <a:lstStyle/>
          <a:p>
            <a:pPr algn="l">
              <a:defRPr sz="1300" b="1">
                <a:solidFill>
                  <a:srgbClr val="FFFFFF"/>
                </a:solidFill>
                <a:latin typeface="Segoe UI"/>
              </a:defRPr>
            </a:pPr>
            <a:r>
              <a:t>NetworkStack</a:t>
            </a:r>
          </a:p>
        </p:txBody>
      </p:sp>
      <p:sp>
        <p:nvSpPr>
          <p:cNvPr id="7" name="TextBox 6"/>
          <p:cNvSpPr txBox="1"/>
          <p:nvPr/>
        </p:nvSpPr>
        <p:spPr>
          <a:xfrm>
            <a:off x="3931920" y="1719072"/>
            <a:ext cx="1371600" cy="274320"/>
          </a:xfrm>
          <a:prstGeom prst="rect">
            <a:avLst/>
          </a:prstGeom>
          <a:noFill/>
        </p:spPr>
        <p:txBody>
          <a:bodyPr wrap="square">
            <a:spAutoFit/>
          </a:bodyPr>
          <a:lstStyle/>
          <a:p>
            <a:pPr algn="l">
              <a:defRPr sz="1000" b="0">
                <a:solidFill>
                  <a:srgbClr val="94A3B8"/>
                </a:solidFill>
                <a:latin typeface="Segoe UI"/>
              </a:defRPr>
            </a:pPr>
            <a:r>
              <a:t>eu-west-2</a:t>
            </a:r>
          </a:p>
        </p:txBody>
      </p:sp>
      <p:sp>
        <p:nvSpPr>
          <p:cNvPr id="8" name="TextBox 7"/>
          <p:cNvSpPr txBox="1"/>
          <p:nvPr/>
        </p:nvSpPr>
        <p:spPr>
          <a:xfrm>
            <a:off x="5394960" y="1719072"/>
            <a:ext cx="5852160" cy="274320"/>
          </a:xfrm>
          <a:prstGeom prst="rect">
            <a:avLst/>
          </a:prstGeom>
          <a:noFill/>
        </p:spPr>
        <p:txBody>
          <a:bodyPr wrap="square">
            <a:spAutoFit/>
          </a:bodyPr>
          <a:lstStyle/>
          <a:p>
            <a:pPr algn="l">
              <a:defRPr sz="1000" b="0">
                <a:solidFill>
                  <a:srgbClr val="CBD5E1"/>
                </a:solidFill>
                <a:latin typeface="Segoe UI"/>
              </a:defRPr>
            </a:pPr>
            <a:r>
              <a:t>VPC, subnets, VPC endpoints, security groups</a:t>
            </a:r>
          </a:p>
        </p:txBody>
      </p:sp>
      <p:sp>
        <p:nvSpPr>
          <p:cNvPr id="9" name="Rectangle 8"/>
          <p:cNvSpPr/>
          <p:nvPr/>
        </p:nvSpPr>
        <p:spPr>
          <a:xfrm>
            <a:off x="731520" y="2377440"/>
            <a:ext cx="10698480" cy="6583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50592"/>
            <a:ext cx="274320" cy="274320"/>
          </a:xfrm>
          <a:prstGeom prst="rect">
            <a:avLst/>
          </a:prstGeom>
          <a:noFill/>
        </p:spPr>
        <p:txBody>
          <a:bodyPr wrap="square">
            <a:spAutoFit/>
          </a:bodyPr>
          <a:lstStyle/>
          <a:p>
            <a:pPr algn="l">
              <a:defRPr sz="1400" b="1">
                <a:solidFill>
                  <a:srgbClr val="3B82F6"/>
                </a:solidFill>
                <a:latin typeface="Segoe UI"/>
              </a:defRPr>
            </a:pPr>
            <a:r>
              <a:t>2</a:t>
            </a:r>
          </a:p>
        </p:txBody>
      </p:sp>
      <p:sp>
        <p:nvSpPr>
          <p:cNvPr id="11" name="TextBox 10"/>
          <p:cNvSpPr txBox="1"/>
          <p:nvPr/>
        </p:nvSpPr>
        <p:spPr>
          <a:xfrm>
            <a:off x="1280160" y="2450592"/>
            <a:ext cx="2560320" cy="274320"/>
          </a:xfrm>
          <a:prstGeom prst="rect">
            <a:avLst/>
          </a:prstGeom>
          <a:noFill/>
        </p:spPr>
        <p:txBody>
          <a:bodyPr wrap="square">
            <a:spAutoFit/>
          </a:bodyPr>
          <a:lstStyle/>
          <a:p>
            <a:pPr algn="l">
              <a:defRPr sz="1300" b="1">
                <a:solidFill>
                  <a:srgbClr val="FFFFFF"/>
                </a:solidFill>
                <a:latin typeface="Segoe UI"/>
              </a:defRPr>
            </a:pPr>
            <a:r>
              <a:t>IdentityStack</a:t>
            </a:r>
          </a:p>
        </p:txBody>
      </p:sp>
      <p:sp>
        <p:nvSpPr>
          <p:cNvPr id="12" name="TextBox 11"/>
          <p:cNvSpPr txBox="1"/>
          <p:nvPr/>
        </p:nvSpPr>
        <p:spPr>
          <a:xfrm>
            <a:off x="3931920" y="2450592"/>
            <a:ext cx="1371600" cy="274320"/>
          </a:xfrm>
          <a:prstGeom prst="rect">
            <a:avLst/>
          </a:prstGeom>
          <a:noFill/>
        </p:spPr>
        <p:txBody>
          <a:bodyPr wrap="square">
            <a:spAutoFit/>
          </a:bodyPr>
          <a:lstStyle/>
          <a:p>
            <a:pPr algn="l">
              <a:defRPr sz="1000" b="0">
                <a:solidFill>
                  <a:srgbClr val="94A3B8"/>
                </a:solidFill>
                <a:latin typeface="Segoe UI"/>
              </a:defRPr>
            </a:pPr>
            <a:r>
              <a:t>eu-west-2</a:t>
            </a:r>
          </a:p>
        </p:txBody>
      </p:sp>
      <p:sp>
        <p:nvSpPr>
          <p:cNvPr id="13" name="TextBox 12"/>
          <p:cNvSpPr txBox="1"/>
          <p:nvPr/>
        </p:nvSpPr>
        <p:spPr>
          <a:xfrm>
            <a:off x="5394960" y="2450592"/>
            <a:ext cx="5852160" cy="274320"/>
          </a:xfrm>
          <a:prstGeom prst="rect">
            <a:avLst/>
          </a:prstGeom>
          <a:noFill/>
        </p:spPr>
        <p:txBody>
          <a:bodyPr wrap="square">
            <a:spAutoFit/>
          </a:bodyPr>
          <a:lstStyle/>
          <a:p>
            <a:pPr algn="l">
              <a:defRPr sz="1000" b="0">
                <a:solidFill>
                  <a:srgbClr val="CBD5E1"/>
                </a:solidFill>
                <a:latin typeface="Segoe UI"/>
              </a:defRPr>
            </a:pPr>
            <a:r>
              <a:t>GitLab OIDC WIF roles, Entra JWKS layer, KMS keys</a:t>
            </a:r>
          </a:p>
        </p:txBody>
      </p:sp>
      <p:sp>
        <p:nvSpPr>
          <p:cNvPr id="14" name="Rectangle 13"/>
          <p:cNvSpPr/>
          <p:nvPr/>
        </p:nvSpPr>
        <p:spPr>
          <a:xfrm>
            <a:off x="731520" y="3108960"/>
            <a:ext cx="10698480" cy="6583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82112"/>
            <a:ext cx="274320" cy="274320"/>
          </a:xfrm>
          <a:prstGeom prst="rect">
            <a:avLst/>
          </a:prstGeom>
          <a:noFill/>
        </p:spPr>
        <p:txBody>
          <a:bodyPr wrap="square">
            <a:spAutoFit/>
          </a:bodyPr>
          <a:lstStyle/>
          <a:p>
            <a:pPr algn="l">
              <a:defRPr sz="1400" b="1">
                <a:solidFill>
                  <a:srgbClr val="3B82F6"/>
                </a:solidFill>
                <a:latin typeface="Segoe UI"/>
              </a:defRPr>
            </a:pPr>
            <a:r>
              <a:t>3</a:t>
            </a:r>
          </a:p>
        </p:txBody>
      </p:sp>
      <p:sp>
        <p:nvSpPr>
          <p:cNvPr id="16" name="TextBox 15"/>
          <p:cNvSpPr txBox="1"/>
          <p:nvPr/>
        </p:nvSpPr>
        <p:spPr>
          <a:xfrm>
            <a:off x="1280160" y="3182112"/>
            <a:ext cx="2560320" cy="274320"/>
          </a:xfrm>
          <a:prstGeom prst="rect">
            <a:avLst/>
          </a:prstGeom>
          <a:noFill/>
        </p:spPr>
        <p:txBody>
          <a:bodyPr wrap="square">
            <a:spAutoFit/>
          </a:bodyPr>
          <a:lstStyle/>
          <a:p>
            <a:pPr algn="l">
              <a:defRPr sz="1300" b="1">
                <a:solidFill>
                  <a:srgbClr val="FFFFFF"/>
                </a:solidFill>
                <a:latin typeface="Segoe UI"/>
              </a:defRPr>
            </a:pPr>
            <a:r>
              <a:t>PlatformStack</a:t>
            </a:r>
          </a:p>
        </p:txBody>
      </p:sp>
      <p:sp>
        <p:nvSpPr>
          <p:cNvPr id="17" name="TextBox 16"/>
          <p:cNvSpPr txBox="1"/>
          <p:nvPr/>
        </p:nvSpPr>
        <p:spPr>
          <a:xfrm>
            <a:off x="3931920" y="3182112"/>
            <a:ext cx="1371600" cy="274320"/>
          </a:xfrm>
          <a:prstGeom prst="rect">
            <a:avLst/>
          </a:prstGeom>
          <a:noFill/>
        </p:spPr>
        <p:txBody>
          <a:bodyPr wrap="square">
            <a:spAutoFit/>
          </a:bodyPr>
          <a:lstStyle/>
          <a:p>
            <a:pPr algn="l">
              <a:defRPr sz="1000" b="0">
                <a:solidFill>
                  <a:srgbClr val="94A3B8"/>
                </a:solidFill>
                <a:latin typeface="Segoe UI"/>
              </a:defRPr>
            </a:pPr>
            <a:r>
              <a:t>eu-west-2</a:t>
            </a:r>
          </a:p>
        </p:txBody>
      </p:sp>
      <p:sp>
        <p:nvSpPr>
          <p:cNvPr id="18" name="TextBox 17"/>
          <p:cNvSpPr txBox="1"/>
          <p:nvPr/>
        </p:nvSpPr>
        <p:spPr>
          <a:xfrm>
            <a:off x="5394960" y="3182112"/>
            <a:ext cx="5852160" cy="274320"/>
          </a:xfrm>
          <a:prstGeom prst="rect">
            <a:avLst/>
          </a:prstGeom>
          <a:noFill/>
        </p:spPr>
        <p:txBody>
          <a:bodyPr wrap="square">
            <a:spAutoFit/>
          </a:bodyPr>
          <a:lstStyle/>
          <a:p>
            <a:pPr algn="l">
              <a:defRPr sz="1000" b="0">
                <a:solidFill>
                  <a:srgbClr val="CBD5E1"/>
                </a:solidFill>
                <a:latin typeface="Segoe UI"/>
              </a:defRPr>
            </a:pPr>
            <a:r>
              <a:t>REST API, WAF, CloudFront, Bridge, BFF, Authoriser, Interceptors</a:t>
            </a:r>
          </a:p>
        </p:txBody>
      </p:sp>
      <p:sp>
        <p:nvSpPr>
          <p:cNvPr id="19" name="Rectangle 18"/>
          <p:cNvSpPr/>
          <p:nvPr/>
        </p:nvSpPr>
        <p:spPr>
          <a:xfrm>
            <a:off x="731520" y="3840480"/>
            <a:ext cx="10698480" cy="6583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13632"/>
            <a:ext cx="274320" cy="274320"/>
          </a:xfrm>
          <a:prstGeom prst="rect">
            <a:avLst/>
          </a:prstGeom>
          <a:noFill/>
        </p:spPr>
        <p:txBody>
          <a:bodyPr wrap="square">
            <a:spAutoFit/>
          </a:bodyPr>
          <a:lstStyle/>
          <a:p>
            <a:pPr algn="l">
              <a:defRPr sz="1400" b="1">
                <a:solidFill>
                  <a:srgbClr val="F59E0B"/>
                </a:solidFill>
                <a:latin typeface="Segoe UI"/>
              </a:defRPr>
            </a:pPr>
            <a:r>
              <a:t>4</a:t>
            </a:r>
          </a:p>
        </p:txBody>
      </p:sp>
      <p:sp>
        <p:nvSpPr>
          <p:cNvPr id="21" name="TextBox 20"/>
          <p:cNvSpPr txBox="1"/>
          <p:nvPr/>
        </p:nvSpPr>
        <p:spPr>
          <a:xfrm>
            <a:off x="1280160" y="3913632"/>
            <a:ext cx="2560320" cy="274320"/>
          </a:xfrm>
          <a:prstGeom prst="rect">
            <a:avLst/>
          </a:prstGeom>
          <a:noFill/>
        </p:spPr>
        <p:txBody>
          <a:bodyPr wrap="square">
            <a:spAutoFit/>
          </a:bodyPr>
          <a:lstStyle/>
          <a:p>
            <a:pPr algn="l">
              <a:defRPr sz="1300" b="1">
                <a:solidFill>
                  <a:srgbClr val="FFFFFF"/>
                </a:solidFill>
                <a:latin typeface="Segoe UI"/>
              </a:defRPr>
            </a:pPr>
            <a:r>
              <a:t>TenantStack</a:t>
            </a:r>
          </a:p>
        </p:txBody>
      </p:sp>
      <p:sp>
        <p:nvSpPr>
          <p:cNvPr id="22" name="TextBox 21"/>
          <p:cNvSpPr txBox="1"/>
          <p:nvPr/>
        </p:nvSpPr>
        <p:spPr>
          <a:xfrm>
            <a:off x="3931920" y="3913632"/>
            <a:ext cx="1371600" cy="274320"/>
          </a:xfrm>
          <a:prstGeom prst="rect">
            <a:avLst/>
          </a:prstGeom>
          <a:noFill/>
        </p:spPr>
        <p:txBody>
          <a:bodyPr wrap="square">
            <a:spAutoFit/>
          </a:bodyPr>
          <a:lstStyle/>
          <a:p>
            <a:pPr algn="l">
              <a:defRPr sz="1000" b="0">
                <a:solidFill>
                  <a:srgbClr val="94A3B8"/>
                </a:solidFill>
                <a:latin typeface="Segoe UI"/>
              </a:defRPr>
            </a:pPr>
            <a:r>
              <a:t>eu-west-2</a:t>
            </a:r>
          </a:p>
        </p:txBody>
      </p:sp>
      <p:sp>
        <p:nvSpPr>
          <p:cNvPr id="23" name="TextBox 22"/>
          <p:cNvSpPr txBox="1"/>
          <p:nvPr/>
        </p:nvSpPr>
        <p:spPr>
          <a:xfrm>
            <a:off x="5394960" y="3913632"/>
            <a:ext cx="5852160" cy="274320"/>
          </a:xfrm>
          <a:prstGeom prst="rect">
            <a:avLst/>
          </a:prstGeom>
          <a:noFill/>
        </p:spPr>
        <p:txBody>
          <a:bodyPr wrap="square">
            <a:spAutoFit/>
          </a:bodyPr>
          <a:lstStyle/>
          <a:p>
            <a:pPr algn="l">
              <a:defRPr sz="1000" b="0">
                <a:solidFill>
                  <a:srgbClr val="CBD5E1"/>
                </a:solidFill>
                <a:latin typeface="Segoe UI"/>
              </a:defRPr>
            </a:pPr>
            <a:r>
              <a:t>Per-tenant Memory store, execution role, usage plan key, SSM</a:t>
            </a:r>
          </a:p>
        </p:txBody>
      </p:sp>
      <p:sp>
        <p:nvSpPr>
          <p:cNvPr id="24" name="Rectangle 23"/>
          <p:cNvSpPr/>
          <p:nvPr/>
        </p:nvSpPr>
        <p:spPr>
          <a:xfrm>
            <a:off x="731520" y="4572000"/>
            <a:ext cx="10698480" cy="6583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645152"/>
            <a:ext cx="274320" cy="274320"/>
          </a:xfrm>
          <a:prstGeom prst="rect">
            <a:avLst/>
          </a:prstGeom>
          <a:noFill/>
        </p:spPr>
        <p:txBody>
          <a:bodyPr wrap="square">
            <a:spAutoFit/>
          </a:bodyPr>
          <a:lstStyle/>
          <a:p>
            <a:pPr algn="l">
              <a:defRPr sz="1400" b="1">
                <a:solidFill>
                  <a:srgbClr val="14B8A6"/>
                </a:solidFill>
                <a:latin typeface="Segoe UI"/>
              </a:defRPr>
            </a:pPr>
            <a:r>
              <a:t>5</a:t>
            </a:r>
          </a:p>
        </p:txBody>
      </p:sp>
      <p:sp>
        <p:nvSpPr>
          <p:cNvPr id="26" name="TextBox 25"/>
          <p:cNvSpPr txBox="1"/>
          <p:nvPr/>
        </p:nvSpPr>
        <p:spPr>
          <a:xfrm>
            <a:off x="1280160" y="4645152"/>
            <a:ext cx="2560320" cy="274320"/>
          </a:xfrm>
          <a:prstGeom prst="rect">
            <a:avLst/>
          </a:prstGeom>
          <a:noFill/>
        </p:spPr>
        <p:txBody>
          <a:bodyPr wrap="square">
            <a:spAutoFit/>
          </a:bodyPr>
          <a:lstStyle/>
          <a:p>
            <a:pPr algn="l">
              <a:defRPr sz="1300" b="1">
                <a:solidFill>
                  <a:srgbClr val="FFFFFF"/>
                </a:solidFill>
                <a:latin typeface="Segoe UI"/>
              </a:defRPr>
            </a:pPr>
            <a:r>
              <a:t>ObservabilityStack</a:t>
            </a:r>
          </a:p>
        </p:txBody>
      </p:sp>
      <p:sp>
        <p:nvSpPr>
          <p:cNvPr id="27" name="TextBox 26"/>
          <p:cNvSpPr txBox="1"/>
          <p:nvPr/>
        </p:nvSpPr>
        <p:spPr>
          <a:xfrm>
            <a:off x="3931920" y="4645152"/>
            <a:ext cx="1371600" cy="274320"/>
          </a:xfrm>
          <a:prstGeom prst="rect">
            <a:avLst/>
          </a:prstGeom>
          <a:noFill/>
        </p:spPr>
        <p:txBody>
          <a:bodyPr wrap="square">
            <a:spAutoFit/>
          </a:bodyPr>
          <a:lstStyle/>
          <a:p>
            <a:pPr algn="l">
              <a:defRPr sz="1000" b="0">
                <a:solidFill>
                  <a:srgbClr val="94A3B8"/>
                </a:solidFill>
                <a:latin typeface="Segoe UI"/>
              </a:defRPr>
            </a:pPr>
            <a:r>
              <a:t>eu-west-1→2</a:t>
            </a:r>
          </a:p>
        </p:txBody>
      </p:sp>
      <p:sp>
        <p:nvSpPr>
          <p:cNvPr id="28" name="TextBox 27"/>
          <p:cNvSpPr txBox="1"/>
          <p:nvPr/>
        </p:nvSpPr>
        <p:spPr>
          <a:xfrm>
            <a:off x="5394960" y="4645152"/>
            <a:ext cx="5852160" cy="274320"/>
          </a:xfrm>
          <a:prstGeom prst="rect">
            <a:avLst/>
          </a:prstGeom>
          <a:noFill/>
        </p:spPr>
        <p:txBody>
          <a:bodyPr wrap="square">
            <a:spAutoFit/>
          </a:bodyPr>
          <a:lstStyle/>
          <a:p>
            <a:pPr algn="l">
              <a:defRPr sz="1000" b="0">
                <a:solidFill>
                  <a:srgbClr val="CBD5E1"/>
                </a:solidFill>
                <a:latin typeface="Segoe UI"/>
              </a:defRPr>
            </a:pPr>
            <a:r>
              <a:t>Dashboards, alarms, metric streams, cross-region forwarding</a:t>
            </a:r>
          </a:p>
        </p:txBody>
      </p:sp>
      <p:sp>
        <p:nvSpPr>
          <p:cNvPr id="29" name="Rectangle 28"/>
          <p:cNvSpPr/>
          <p:nvPr/>
        </p:nvSpPr>
        <p:spPr>
          <a:xfrm>
            <a:off x="731520" y="5303520"/>
            <a:ext cx="10698480" cy="65836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376672"/>
            <a:ext cx="274320" cy="274320"/>
          </a:xfrm>
          <a:prstGeom prst="rect">
            <a:avLst/>
          </a:prstGeom>
          <a:noFill/>
        </p:spPr>
        <p:txBody>
          <a:bodyPr wrap="square">
            <a:spAutoFit/>
          </a:bodyPr>
          <a:lstStyle/>
          <a:p>
            <a:pPr algn="l">
              <a:defRPr sz="1400" b="1">
                <a:solidFill>
                  <a:srgbClr val="14B8A6"/>
                </a:solidFill>
                <a:latin typeface="Segoe UI"/>
              </a:defRPr>
            </a:pPr>
            <a:r>
              <a:t>6</a:t>
            </a:r>
          </a:p>
        </p:txBody>
      </p:sp>
      <p:sp>
        <p:nvSpPr>
          <p:cNvPr id="31" name="TextBox 30"/>
          <p:cNvSpPr txBox="1"/>
          <p:nvPr/>
        </p:nvSpPr>
        <p:spPr>
          <a:xfrm>
            <a:off x="1280160" y="5376672"/>
            <a:ext cx="2560320" cy="274320"/>
          </a:xfrm>
          <a:prstGeom prst="rect">
            <a:avLst/>
          </a:prstGeom>
          <a:noFill/>
        </p:spPr>
        <p:txBody>
          <a:bodyPr wrap="square">
            <a:spAutoFit/>
          </a:bodyPr>
          <a:lstStyle/>
          <a:p>
            <a:pPr algn="l">
              <a:defRPr sz="1300" b="1">
                <a:solidFill>
                  <a:srgbClr val="FFFFFF"/>
                </a:solidFill>
                <a:latin typeface="Segoe UI"/>
              </a:defRPr>
            </a:pPr>
            <a:r>
              <a:t>AgentCoreStack</a:t>
            </a:r>
          </a:p>
        </p:txBody>
      </p:sp>
      <p:sp>
        <p:nvSpPr>
          <p:cNvPr id="32" name="TextBox 31"/>
          <p:cNvSpPr txBox="1"/>
          <p:nvPr/>
        </p:nvSpPr>
        <p:spPr>
          <a:xfrm>
            <a:off x="3931920" y="5376672"/>
            <a:ext cx="1371600" cy="274320"/>
          </a:xfrm>
          <a:prstGeom prst="rect">
            <a:avLst/>
          </a:prstGeom>
          <a:noFill/>
        </p:spPr>
        <p:txBody>
          <a:bodyPr wrap="square">
            <a:spAutoFit/>
          </a:bodyPr>
          <a:lstStyle/>
          <a:p>
            <a:pPr algn="l">
              <a:defRPr sz="1000" b="0">
                <a:solidFill>
                  <a:srgbClr val="94A3B8"/>
                </a:solidFill>
                <a:latin typeface="Segoe UI"/>
              </a:defRPr>
            </a:pPr>
            <a:r>
              <a:t>eu-west-1</a:t>
            </a:r>
          </a:p>
        </p:txBody>
      </p:sp>
      <p:sp>
        <p:nvSpPr>
          <p:cNvPr id="33" name="TextBox 32"/>
          <p:cNvSpPr txBox="1"/>
          <p:nvPr/>
        </p:nvSpPr>
        <p:spPr>
          <a:xfrm>
            <a:off x="5394960" y="5376672"/>
            <a:ext cx="5852160" cy="274320"/>
          </a:xfrm>
          <a:prstGeom prst="rect">
            <a:avLst/>
          </a:prstGeom>
          <a:noFill/>
        </p:spPr>
        <p:txBody>
          <a:bodyPr wrap="square">
            <a:spAutoFit/>
          </a:bodyPr>
          <a:lstStyle/>
          <a:p>
            <a:pPr algn="l">
              <a:defRPr sz="1000" b="0">
                <a:solidFill>
                  <a:srgbClr val="CBD5E1"/>
                </a:solidFill>
                <a:latin typeface="Segoe UI"/>
              </a:defRPr>
            </a:pPr>
            <a:r>
              <a:t>Runtime config, cross-region resource wiring</a:t>
            </a:r>
          </a:p>
        </p:txBody>
      </p:sp>
      <p:sp>
        <p:nvSpPr>
          <p:cNvPr id="34" name="TextBox 33"/>
          <p:cNvSpPr txBox="1"/>
          <p:nvPr/>
        </p:nvSpPr>
        <p:spPr>
          <a:xfrm>
            <a:off x="731520" y="6217920"/>
            <a:ext cx="10515600" cy="457200"/>
          </a:xfrm>
          <a:prstGeom prst="rect">
            <a:avLst/>
          </a:prstGeom>
          <a:noFill/>
        </p:spPr>
        <p:txBody>
          <a:bodyPr wrap="square">
            <a:spAutoFit/>
          </a:bodyPr>
          <a:lstStyle/>
          <a:p>
            <a:pPr algn="l">
              <a:defRPr sz="1200" b="0">
                <a:solidFill>
                  <a:srgbClr val="F59E0B"/>
                </a:solidFill>
                <a:latin typeface="Segoe UI"/>
              </a:defRPr>
            </a:pPr>
            <a:r>
              <a:t>TenantStack is event-driven: EventBridge platform.tenant.created triggers per-tenant deployment. Not part of the platform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Agent Developer Experience</a:t>
            </a:r>
          </a:p>
        </p:txBody>
      </p:sp>
      <p:sp>
        <p:nvSpPr>
          <p:cNvPr id="3" name="TextBox 2"/>
          <p:cNvSpPr txBox="1"/>
          <p:nvPr/>
        </p:nvSpPr>
        <p:spPr>
          <a:xfrm>
            <a:off x="731520" y="1097280"/>
            <a:ext cx="5029200" cy="2743200"/>
          </a:xfrm>
          <a:prstGeom prst="rect">
            <a:avLst/>
          </a:prstGeom>
          <a:noFill/>
        </p:spPr>
        <p:txBody>
          <a:bodyPr wrap="square">
            <a:spAutoFit/>
          </a:bodyPr>
          <a:lstStyle/>
          <a:p>
            <a:pPr>
              <a:spcAft>
                <a:spcPts val="400"/>
              </a:spcAft>
              <a:defRPr sz="1500" b="0">
                <a:solidFill>
                  <a:srgbClr val="CBD5E1"/>
                </a:solidFill>
                <a:latin typeface="Segoe UI"/>
              </a:defRPr>
            </a:pPr>
            <a:r>
              <a:t>The agent release pipeline is a first-class platform concern.</a:t>
            </a:r>
          </a:p>
          <a:p>
            <a:pPr>
              <a:spcAft>
                <a:spcPts val="400"/>
              </a:spcAft>
              <a:defRPr sz="800" b="0">
                <a:solidFill>
                  <a:srgbClr val="CBD5E1"/>
                </a:solidFill>
                <a:latin typeface="Segoe UI"/>
              </a:defRPr>
            </a:pPr>
          </a:p>
          <a:p>
            <a:pPr>
              <a:spcAft>
                <a:spcPts val="400"/>
              </a:spcAft>
              <a:defRPr sz="1300" b="0">
                <a:solidFill>
                  <a:srgbClr val="CBD5E1"/>
                </a:solidFill>
                <a:latin typeface="Segoe UI"/>
              </a:defRPr>
            </a:pPr>
            <a:r>
              <a:t>A developer copies the echo-agent reference, edits the pyproject.toml manifest, and runs make agent-push. The platform handles cross-compilation for arm64, dependency caching, deployment packaging, and promotion through evaluation gates.</a:t>
            </a:r>
          </a:p>
          <a:p>
            <a:pPr>
              <a:spcAft>
                <a:spcPts val="400"/>
              </a:spcAft>
              <a:defRPr sz="800" b="0">
                <a:solidFill>
                  <a:srgbClr val="CBD5E1"/>
                </a:solidFill>
                <a:latin typeface="Segoe UI"/>
              </a:defRPr>
            </a:pPr>
          </a:p>
          <a:p>
            <a:pPr>
              <a:spcAft>
                <a:spcPts val="400"/>
              </a:spcAft>
              <a:defRPr sz="1300" b="0">
                <a:solidFill>
                  <a:srgbClr val="CBD5E1"/>
                </a:solidFill>
                <a:latin typeface="Segoe UI"/>
              </a:defRPr>
            </a:pPr>
            <a:r>
              <a:t>The local development environment uses LocalStack, a mock AgentCore Runtime, and a mock JWKS endpoint. No AWS credentials required for the inner loop.</a:t>
            </a:r>
          </a:p>
        </p:txBody>
      </p:sp>
      <p:sp>
        <p:nvSpPr>
          <p:cNvPr id="4" name="Rectangle 3"/>
          <p:cNvSpPr/>
          <p:nvPr/>
        </p:nvSpPr>
        <p:spPr>
          <a:xfrm>
            <a:off x="6400800" y="1097280"/>
            <a:ext cx="5029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1188720"/>
            <a:ext cx="4663440" cy="274320"/>
          </a:xfrm>
          <a:prstGeom prst="rect">
            <a:avLst/>
          </a:prstGeom>
          <a:noFill/>
        </p:spPr>
        <p:txBody>
          <a:bodyPr wrap="square">
            <a:spAutoFit/>
          </a:bodyPr>
          <a:lstStyle/>
          <a:p>
            <a:pPr algn="l">
              <a:defRPr sz="1400" b="1">
                <a:solidFill>
                  <a:srgbClr val="14B8A6"/>
                </a:solidFill>
                <a:latin typeface="Segoe UI"/>
              </a:defRPr>
            </a:pPr>
            <a:r>
              <a:t>Speed Targets</a:t>
            </a:r>
          </a:p>
        </p:txBody>
      </p:sp>
      <p:sp>
        <p:nvSpPr>
          <p:cNvPr id="6" name="TextBox 5"/>
          <p:cNvSpPr txBox="1"/>
          <p:nvPr/>
        </p:nvSpPr>
        <p:spPr>
          <a:xfrm>
            <a:off x="6583680" y="1554480"/>
            <a:ext cx="4663440" cy="914400"/>
          </a:xfrm>
          <a:prstGeom prst="rect">
            <a:avLst/>
          </a:prstGeom>
          <a:noFill/>
        </p:spPr>
        <p:txBody>
          <a:bodyPr wrap="square">
            <a:spAutoFit/>
          </a:bodyPr>
          <a:lstStyle/>
          <a:p>
            <a:pPr>
              <a:spcAft>
                <a:spcPts val="400"/>
              </a:spcAft>
              <a:defRPr sz="1300" b="0">
                <a:solidFill>
                  <a:srgbClr val="FFFFFF"/>
                </a:solidFill>
                <a:latin typeface="Segoe UI"/>
              </a:defRPr>
            </a:pPr>
            <a:r>
              <a:t>Warm push (deps unchanged): &lt; 30 seconds</a:t>
            </a:r>
          </a:p>
          <a:p>
            <a:pPr>
              <a:spcAft>
                <a:spcPts val="400"/>
              </a:spcAft>
              <a:defRPr sz="1300" b="0">
                <a:solidFill>
                  <a:srgbClr val="FFFFFF"/>
                </a:solidFill>
                <a:latin typeface="Segoe UI"/>
              </a:defRPr>
            </a:pPr>
            <a:r>
              <a:t>Cold push (deps changed): &lt; 2 minutes</a:t>
            </a:r>
          </a:p>
          <a:p>
            <a:pPr>
              <a:spcAft>
                <a:spcPts val="400"/>
              </a:spcAft>
              <a:defRPr sz="1300" b="0">
                <a:solidFill>
                  <a:srgbClr val="FFFFFF"/>
                </a:solidFill>
                <a:latin typeface="Segoe UI"/>
              </a:defRPr>
            </a:pPr>
            <a:r>
              <a:t>New developer setup: &lt; 30 minutes</a:t>
            </a:r>
          </a:p>
        </p:txBody>
      </p:sp>
      <p:sp>
        <p:nvSpPr>
          <p:cNvPr id="7" name="Rectangle 6"/>
          <p:cNvSpPr/>
          <p:nvPr/>
        </p:nvSpPr>
        <p:spPr>
          <a:xfrm>
            <a:off x="6400800" y="2743200"/>
            <a:ext cx="5029200" cy="1645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834640"/>
            <a:ext cx="4663440" cy="274320"/>
          </a:xfrm>
          <a:prstGeom prst="rect">
            <a:avLst/>
          </a:prstGeom>
          <a:noFill/>
        </p:spPr>
        <p:txBody>
          <a:bodyPr wrap="square">
            <a:spAutoFit/>
          </a:bodyPr>
          <a:lstStyle/>
          <a:p>
            <a:pPr algn="l">
              <a:defRPr sz="1400" b="1">
                <a:solidFill>
                  <a:srgbClr val="3B82F6"/>
                </a:solidFill>
                <a:latin typeface="Segoe UI"/>
              </a:defRPr>
            </a:pPr>
            <a:r>
              <a:t>Three Invocation Modes</a:t>
            </a:r>
          </a:p>
        </p:txBody>
      </p:sp>
      <p:sp>
        <p:nvSpPr>
          <p:cNvPr id="9" name="TextBox 8"/>
          <p:cNvSpPr txBox="1"/>
          <p:nvPr/>
        </p:nvSpPr>
        <p:spPr>
          <a:xfrm>
            <a:off x="6583680" y="3200400"/>
            <a:ext cx="4663440" cy="1097280"/>
          </a:xfrm>
          <a:prstGeom prst="rect">
            <a:avLst/>
          </a:prstGeom>
          <a:noFill/>
        </p:spPr>
        <p:txBody>
          <a:bodyPr wrap="square">
            <a:spAutoFit/>
          </a:bodyPr>
          <a:lstStyle/>
          <a:p>
            <a:pPr>
              <a:spcAft>
                <a:spcPts val="400"/>
              </a:spcAft>
              <a:defRPr sz="1200" b="0">
                <a:solidFill>
                  <a:srgbClr val="FFFFFF"/>
                </a:solidFill>
                <a:latin typeface="Segoe UI"/>
              </a:defRPr>
            </a:pPr>
            <a:r>
              <a:t>sync — 15 min, full response (queries, classification)</a:t>
            </a:r>
          </a:p>
          <a:p>
            <a:pPr>
              <a:spcAft>
                <a:spcPts val="400"/>
              </a:spcAft>
              <a:defRPr sz="1200" b="0">
                <a:solidFill>
                  <a:srgbClr val="FFFFFF"/>
                </a:solidFill>
                <a:latin typeface="Segoe UI"/>
              </a:defRPr>
            </a:pPr>
            <a:r>
              <a:t>streaming — 15 min, SSE chunks (chat, narrated reasoning)</a:t>
            </a:r>
          </a:p>
          <a:p>
            <a:pPr>
              <a:spcAft>
                <a:spcPts val="400"/>
              </a:spcAft>
              <a:defRPr sz="1200" b="0">
                <a:solidFill>
                  <a:srgbClr val="FFFFFF"/>
                </a:solidFill>
                <a:latin typeface="Segoe UI"/>
              </a:defRPr>
            </a:pPr>
            <a:r>
              <a:t>async — 8 hours, 202 + webhook/poll (research, batch)</a:t>
            </a:r>
          </a:p>
          <a:p>
            <a:pPr>
              <a:spcAft>
                <a:spcPts val="400"/>
              </a:spcAft>
              <a:defRPr sz="1100" b="0">
                <a:solidFill>
                  <a:srgbClr val="94A3B8"/>
                </a:solidFill>
                <a:latin typeface="Segoe UI"/>
              </a:defRPr>
            </a:pPr>
            <a:r>
              <a:t>Mode declared in manifest, never inferred.</a:t>
            </a:r>
          </a:p>
        </p:txBody>
      </p:sp>
      <p:sp>
        <p:nvSpPr>
          <p:cNvPr id="10" name="Rectangle 9"/>
          <p:cNvSpPr/>
          <p:nvPr/>
        </p:nvSpPr>
        <p:spPr>
          <a:xfrm>
            <a:off x="731520" y="4572000"/>
            <a:ext cx="1069848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663440"/>
            <a:ext cx="10332720" cy="274320"/>
          </a:xfrm>
          <a:prstGeom prst="rect">
            <a:avLst/>
          </a:prstGeom>
          <a:noFill/>
        </p:spPr>
        <p:txBody>
          <a:bodyPr wrap="square">
            <a:spAutoFit/>
          </a:bodyPr>
          <a:lstStyle/>
          <a:p>
            <a:pPr algn="l">
              <a:defRPr sz="1200" b="1">
                <a:solidFill>
                  <a:srgbClr val="F59E0B"/>
                </a:solidFill>
                <a:latin typeface="Segoe UI"/>
              </a:defRPr>
            </a:pPr>
            <a:r>
              <a:t>Pipeline: Validate → Test → Push Dev (auto) → Promote Staging (eval gate) → Promote Prod (2-reviewer approval)</a:t>
            </a:r>
          </a:p>
        </p:txBody>
      </p:sp>
      <p:sp>
        <p:nvSpPr>
          <p:cNvPr id="12" name="TextBox 11"/>
          <p:cNvSpPr txBox="1"/>
          <p:nvPr/>
        </p:nvSpPr>
        <p:spPr>
          <a:xfrm>
            <a:off x="914400" y="5029200"/>
            <a:ext cx="10332720" cy="1188720"/>
          </a:xfrm>
          <a:prstGeom prst="rect">
            <a:avLst/>
          </a:prstGeom>
          <a:noFill/>
        </p:spPr>
        <p:txBody>
          <a:bodyPr wrap="square">
            <a:spAutoFit/>
          </a:bodyPr>
          <a:lstStyle/>
          <a:p>
            <a:pPr>
              <a:spcAft>
                <a:spcPts val="400"/>
              </a:spcAft>
              <a:defRPr sz="1200" b="0">
                <a:solidFill>
                  <a:srgbClr val="CBD5E1"/>
                </a:solidFill>
                <a:latin typeface="Segoe UI"/>
              </a:defRPr>
            </a:pPr>
            <a:r>
              <a:t>Production deploys fail closed unless the GitLab project protects the prod environment and requires at least two approvals. The pipeline CI job verifies that state by calling the Protected Environments API before any production deploy step runs. If the protection is misconfigured, the deploy exits before touching production.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Security Model</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500" b="0">
                <a:solidFill>
                  <a:srgbClr val="EF4444"/>
                </a:solidFill>
                <a:latin typeface="Segoe UI"/>
              </a:defRPr>
            </a:pPr>
            <a:r>
              <a:t>Thirteen absolute constraints. Five threat actors. Defence in depth at every layer.</a:t>
            </a:r>
          </a:p>
        </p:txBody>
      </p:sp>
      <p:sp>
        <p:nvSpPr>
          <p:cNvPr id="4" name="Rectangle 3"/>
          <p:cNvSpPr/>
          <p:nvPr/>
        </p:nvSpPr>
        <p:spPr>
          <a:xfrm>
            <a:off x="731520" y="1645920"/>
            <a:ext cx="5029200" cy="47548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4663440" cy="274320"/>
          </a:xfrm>
          <a:prstGeom prst="rect">
            <a:avLst/>
          </a:prstGeom>
          <a:noFill/>
        </p:spPr>
        <p:txBody>
          <a:bodyPr wrap="square">
            <a:spAutoFit/>
          </a:bodyPr>
          <a:lstStyle/>
          <a:p>
            <a:pPr algn="l">
              <a:defRPr sz="1300" b="1">
                <a:solidFill>
                  <a:srgbClr val="EF4444"/>
                </a:solidFill>
                <a:latin typeface="Segoe UI"/>
              </a:defRPr>
            </a:pPr>
            <a:r>
              <a:t>Absolute Constraints (non-negotiable)</a:t>
            </a:r>
          </a:p>
        </p:txBody>
      </p:sp>
      <p:sp>
        <p:nvSpPr>
          <p:cNvPr id="6" name="TextBox 5"/>
          <p:cNvSpPr txBox="1"/>
          <p:nvPr/>
        </p:nvSpPr>
        <p:spPr>
          <a:xfrm>
            <a:off x="914400" y="2103120"/>
            <a:ext cx="4663440" cy="4114800"/>
          </a:xfrm>
          <a:prstGeom prst="rect">
            <a:avLst/>
          </a:prstGeom>
          <a:noFill/>
        </p:spPr>
        <p:txBody>
          <a:bodyPr wrap="square">
            <a:spAutoFit/>
          </a:bodyPr>
          <a:lstStyle/>
          <a:p>
            <a:pPr>
              <a:spcAft>
                <a:spcPts val="400"/>
              </a:spcAft>
              <a:defRPr sz="1000" b="0">
                <a:solidFill>
                  <a:srgbClr val="CBD5E1"/>
                </a:solidFill>
                <a:latin typeface="Segoe UI"/>
              </a:defRPr>
            </a:pPr>
            <a:r>
              <a:t>No Cognito — Entra ID OIDC + SigV4 only</a:t>
            </a:r>
          </a:p>
          <a:p>
            <a:pPr>
              <a:spcAft>
                <a:spcPts val="400"/>
              </a:spcAft>
              <a:defRPr sz="1000" b="0">
                <a:solidFill>
                  <a:srgbClr val="CBD5E1"/>
                </a:solidFill>
                <a:latin typeface="Segoe UI"/>
              </a:defRPr>
            </a:pPr>
            <a:r>
              <a:t>No hardcoded credentials, ARNs, account IDs, or region strings</a:t>
            </a:r>
          </a:p>
          <a:p>
            <a:pPr>
              <a:spcAft>
                <a:spcPts val="400"/>
              </a:spcAft>
              <a:defRPr sz="1000" b="0">
                <a:solidFill>
                  <a:srgbClr val="CBD5E1"/>
                </a:solidFill>
                <a:latin typeface="Segoe UI"/>
              </a:defRPr>
            </a:pPr>
            <a:r>
              <a:t>No wildcard IAM Action or Resource</a:t>
            </a:r>
          </a:p>
          <a:p>
            <a:pPr>
              <a:spcAft>
                <a:spcPts val="400"/>
              </a:spcAft>
              <a:defRPr sz="1000" b="0">
                <a:solidFill>
                  <a:srgbClr val="CBD5E1"/>
                </a:solidFill>
                <a:latin typeface="Segoe UI"/>
              </a:defRPr>
            </a:pPr>
            <a:r>
              <a:t>No public S3 buckets</a:t>
            </a:r>
          </a:p>
          <a:p>
            <a:pPr>
              <a:spcAft>
                <a:spcPts val="400"/>
              </a:spcAft>
              <a:defRPr sz="1000" b="0">
                <a:solidFill>
                  <a:srgbClr val="CBD5E1"/>
                </a:solidFill>
                <a:latin typeface="Segoe UI"/>
              </a:defRPr>
            </a:pPr>
            <a:r>
              <a:t>No long-lived AWS access keys</a:t>
            </a:r>
          </a:p>
          <a:p>
            <a:pPr>
              <a:spcAft>
                <a:spcPts val="400"/>
              </a:spcAft>
              <a:defRPr sz="1000" b="0">
                <a:solidFill>
                  <a:srgbClr val="CBD5E1"/>
                </a:solidFill>
                <a:latin typeface="Segoe UI"/>
              </a:defRPr>
            </a:pPr>
            <a:r>
              <a:t>No secrets in CI/CD variables — Secrets Manager only</a:t>
            </a:r>
          </a:p>
          <a:p>
            <a:pPr>
              <a:spcAft>
                <a:spcPts val="400"/>
              </a:spcAft>
              <a:defRPr sz="1000" b="0">
                <a:solidFill>
                  <a:srgbClr val="CBD5E1"/>
                </a:solidFill>
                <a:latin typeface="Segoe UI"/>
              </a:defRPr>
            </a:pPr>
            <a:r>
              <a:t>Every Lambda: X-Ray, DLQ, structured JSON logging</a:t>
            </a:r>
          </a:p>
          <a:p>
            <a:pPr>
              <a:spcAft>
                <a:spcPts val="400"/>
              </a:spcAft>
              <a:defRPr sz="1000" b="0">
                <a:solidFill>
                  <a:srgbClr val="CBD5E1"/>
                </a:solidFill>
                <a:latin typeface="Segoe UI"/>
              </a:defRPr>
            </a:pPr>
            <a:r>
              <a:t>Every DynamoDB: PITR, KMS, deletion protection</a:t>
            </a:r>
          </a:p>
          <a:p>
            <a:pPr>
              <a:spcAft>
                <a:spcPts val="400"/>
              </a:spcAft>
              <a:defRPr sz="1000" b="0">
                <a:solidFill>
                  <a:srgbClr val="CBD5E1"/>
                </a:solidFill>
                <a:latin typeface="Segoe UI"/>
              </a:defRPr>
            </a:pPr>
            <a:r>
              <a:t>All data remains in the EU at all times</a:t>
            </a:r>
          </a:p>
          <a:p>
            <a:pPr>
              <a:spcAft>
                <a:spcPts val="400"/>
              </a:spcAft>
              <a:defRPr sz="1000" b="0">
                <a:solidFill>
                  <a:srgbClr val="CBD5E1"/>
                </a:solidFill>
                <a:latin typeface="Segoe UI"/>
              </a:defRPr>
            </a:pPr>
            <a:r>
              <a:t>No impersonation — act-on-behalf only</a:t>
            </a:r>
          </a:p>
          <a:p>
            <a:pPr>
              <a:spcAft>
                <a:spcPts val="400"/>
              </a:spcAft>
              <a:defRPr sz="1000" b="0">
                <a:solidFill>
                  <a:srgbClr val="CBD5E1"/>
                </a:solidFill>
                <a:latin typeface="Segoe UI"/>
              </a:defRPr>
            </a:pPr>
            <a:r>
              <a:t>appid + tenantid on every log, metric, trace</a:t>
            </a:r>
          </a:p>
          <a:p>
            <a:pPr>
              <a:spcAft>
                <a:spcPts val="400"/>
              </a:spcAft>
              <a:defRPr sz="1000" b="0">
                <a:solidFill>
                  <a:srgbClr val="CBD5E1"/>
                </a:solidFill>
                <a:latin typeface="Segoe UI"/>
              </a:defRPr>
            </a:pPr>
            <a:r>
              <a:t>data-access-lib is the only DynamoDB path</a:t>
            </a:r>
          </a:p>
          <a:p>
            <a:pPr>
              <a:spcAft>
                <a:spcPts val="400"/>
              </a:spcAft>
              <a:defRPr sz="1000" b="0">
                <a:solidFill>
                  <a:srgbClr val="CBD5E1"/>
                </a:solidFill>
                <a:latin typeface="Segoe UI"/>
              </a:defRPr>
            </a:pPr>
            <a:r>
              <a:t>No superuser IAM roles in normal operation</a:t>
            </a:r>
          </a:p>
        </p:txBody>
      </p:sp>
      <p:sp>
        <p:nvSpPr>
          <p:cNvPr id="7" name="Rectangle 6"/>
          <p:cNvSpPr/>
          <p:nvPr/>
        </p:nvSpPr>
        <p:spPr>
          <a:xfrm>
            <a:off x="6217920" y="1645920"/>
            <a:ext cx="5212080" cy="2194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37360"/>
            <a:ext cx="4846320" cy="274320"/>
          </a:xfrm>
          <a:prstGeom prst="rect">
            <a:avLst/>
          </a:prstGeom>
          <a:noFill/>
        </p:spPr>
        <p:txBody>
          <a:bodyPr wrap="square">
            <a:spAutoFit/>
          </a:bodyPr>
          <a:lstStyle/>
          <a:p>
            <a:pPr algn="l">
              <a:defRPr sz="1300" b="1">
                <a:solidFill>
                  <a:srgbClr val="F59E0B"/>
                </a:solidFill>
                <a:latin typeface="Segoe UI"/>
              </a:defRPr>
            </a:pPr>
            <a:r>
              <a:t>Threat Actors</a:t>
            </a:r>
          </a:p>
        </p:txBody>
      </p:sp>
      <p:sp>
        <p:nvSpPr>
          <p:cNvPr id="9" name="TextBox 8"/>
          <p:cNvSpPr txBox="1"/>
          <p:nvPr/>
        </p:nvSpPr>
        <p:spPr>
          <a:xfrm>
            <a:off x="6400800" y="2103120"/>
            <a:ext cx="4846320" cy="1645920"/>
          </a:xfrm>
          <a:prstGeom prst="rect">
            <a:avLst/>
          </a:prstGeom>
          <a:noFill/>
        </p:spPr>
        <p:txBody>
          <a:bodyPr wrap="square">
            <a:spAutoFit/>
          </a:bodyPr>
          <a:lstStyle/>
          <a:p>
            <a:pPr>
              <a:spcAft>
                <a:spcPts val="400"/>
              </a:spcAft>
              <a:defRPr sz="1100" b="0">
                <a:solidFill>
                  <a:srgbClr val="CBD5E1"/>
                </a:solidFill>
                <a:latin typeface="Segoe UI"/>
              </a:defRPr>
            </a:pPr>
            <a:r>
              <a:t>External attacker — data theft, service disruption</a:t>
            </a:r>
          </a:p>
          <a:p>
            <a:pPr>
              <a:spcAft>
                <a:spcPts val="400"/>
              </a:spcAft>
              <a:defRPr sz="1100" b="0">
                <a:solidFill>
                  <a:srgbClr val="CBD5E1"/>
                </a:solidFill>
                <a:latin typeface="Segoe UI"/>
              </a:defRPr>
            </a:pPr>
            <a:r>
              <a:t>Malicious tenant — cross-tenant data access</a:t>
            </a:r>
          </a:p>
          <a:p>
            <a:pPr>
              <a:spcAft>
                <a:spcPts val="400"/>
              </a:spcAft>
              <a:defRPr sz="1100" b="0">
                <a:solidFill>
                  <a:srgbClr val="CBD5E1"/>
                </a:solidFill>
                <a:latin typeface="Segoe UI"/>
              </a:defRPr>
            </a:pPr>
            <a:r>
              <a:t>Compromised agent — lateral movement via tools</a:t>
            </a:r>
          </a:p>
          <a:p>
            <a:pPr>
              <a:spcAft>
                <a:spcPts val="400"/>
              </a:spcAft>
              <a:defRPr sz="1100" b="0">
                <a:solidFill>
                  <a:srgbClr val="CBD5E1"/>
                </a:solidFill>
                <a:latin typeface="Segoe UI"/>
              </a:defRPr>
            </a:pPr>
            <a:r>
              <a:t>Insider threat — data exfiltration</a:t>
            </a:r>
          </a:p>
          <a:p>
            <a:pPr>
              <a:spcAft>
                <a:spcPts val="400"/>
              </a:spcAft>
              <a:defRPr sz="1100" b="0">
                <a:solidFill>
                  <a:srgbClr val="CBD5E1"/>
                </a:solidFill>
                <a:latin typeface="Segoe UI"/>
              </a:defRPr>
            </a:pPr>
            <a:r>
              <a:t>Supply chain — code injection via dependencies</a:t>
            </a:r>
          </a:p>
        </p:txBody>
      </p:sp>
      <p:sp>
        <p:nvSpPr>
          <p:cNvPr id="10" name="Rectangle 9"/>
          <p:cNvSpPr/>
          <p:nvPr/>
        </p:nvSpPr>
        <p:spPr>
          <a:xfrm>
            <a:off x="6217920" y="4114800"/>
            <a:ext cx="5212080" cy="2286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206240"/>
            <a:ext cx="4846320" cy="274320"/>
          </a:xfrm>
          <a:prstGeom prst="rect">
            <a:avLst/>
          </a:prstGeom>
          <a:noFill/>
        </p:spPr>
        <p:txBody>
          <a:bodyPr wrap="square">
            <a:spAutoFit/>
          </a:bodyPr>
          <a:lstStyle/>
          <a:p>
            <a:pPr algn="l">
              <a:defRPr sz="1300" b="1">
                <a:solidFill>
                  <a:srgbClr val="14B8A6"/>
                </a:solidFill>
                <a:latin typeface="Segoe UI"/>
              </a:defRPr>
            </a:pPr>
            <a:r>
              <a:t>Data Classification &amp; Compliance</a:t>
            </a:r>
          </a:p>
        </p:txBody>
      </p:sp>
      <p:sp>
        <p:nvSpPr>
          <p:cNvPr id="12" name="TextBox 11"/>
          <p:cNvSpPr txBox="1"/>
          <p:nvPr/>
        </p:nvSpPr>
        <p:spPr>
          <a:xfrm>
            <a:off x="6400800" y="4572000"/>
            <a:ext cx="4846320" cy="1645920"/>
          </a:xfrm>
          <a:prstGeom prst="rect">
            <a:avLst/>
          </a:prstGeom>
          <a:noFill/>
        </p:spPr>
        <p:txBody>
          <a:bodyPr wrap="square">
            <a:spAutoFit/>
          </a:bodyPr>
          <a:lstStyle/>
          <a:p>
            <a:pPr>
              <a:spcAft>
                <a:spcPts val="400"/>
              </a:spcAft>
              <a:defRPr sz="1000" b="0">
                <a:solidFill>
                  <a:srgbClr val="CBD5E1"/>
                </a:solidFill>
                <a:latin typeface="Segoe UI"/>
              </a:defRPr>
            </a:pPr>
            <a:r>
              <a:t>Invocation content: Confidential — KMS + TLS — 90d</a:t>
            </a:r>
          </a:p>
          <a:p>
            <a:pPr>
              <a:spcAft>
                <a:spcPts val="400"/>
              </a:spcAft>
              <a:defRPr sz="1000" b="0">
                <a:solidFill>
                  <a:srgbClr val="CBD5E1"/>
                </a:solidFill>
                <a:latin typeface="Segoe UI"/>
              </a:defRPr>
            </a:pPr>
            <a:r>
              <a:t>Tenant metadata: Internal — KMS + TLS — Lifetime</a:t>
            </a:r>
          </a:p>
          <a:p>
            <a:pPr>
              <a:spcAft>
                <a:spcPts val="400"/>
              </a:spcAft>
              <a:defRPr sz="1000" b="0">
                <a:solidFill>
                  <a:srgbClr val="CBD5E1"/>
                </a:solidFill>
                <a:latin typeface="Segoe UI"/>
              </a:defRPr>
            </a:pPr>
            <a:r>
              <a:t>Audit + CloudTrail: Internal — KMS — 7 years</a:t>
            </a:r>
          </a:p>
          <a:p>
            <a:pPr>
              <a:spcAft>
                <a:spcPts val="400"/>
              </a:spcAft>
              <a:defRPr sz="1000" b="0">
                <a:solidFill>
                  <a:srgbClr val="CBD5E1"/>
                </a:solidFill>
                <a:latin typeface="Segoe UI"/>
              </a:defRPr>
            </a:pPr>
            <a:r>
              <a:t>Secrets: Secrets Manager — 30d rotation</a:t>
            </a:r>
          </a:p>
          <a:p>
            <a:pPr>
              <a:spcAft>
                <a:spcPts val="400"/>
              </a:spcAft>
              <a:defRPr sz="800" b="0">
                <a:solidFill>
                  <a:srgbClr val="CBD5E1"/>
                </a:solidFill>
                <a:latin typeface="Segoe UI"/>
              </a:defRPr>
            </a:pPr>
          </a:p>
          <a:p>
            <a:pPr>
              <a:spcAft>
                <a:spcPts val="400"/>
              </a:spcAft>
              <a:defRPr sz="1100" b="0">
                <a:solidFill>
                  <a:srgbClr val="14B8A6"/>
                </a:solidFill>
                <a:latin typeface="Segoe UI"/>
              </a:defRPr>
            </a:pPr>
            <a:r>
              <a:t>GDPR/UK GDPR + SOC 2 Type II reference controls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Scaling Model and Failure Modes</a:t>
            </a:r>
          </a:p>
        </p:txBody>
      </p:sp>
      <p:sp>
        <p:nvSpPr>
          <p:cNvPr id="3" name="Rectangle 2"/>
          <p:cNvSpPr/>
          <p:nvPr/>
        </p:nvSpPr>
        <p:spPr>
          <a:xfrm>
            <a:off x="731520" y="1097280"/>
            <a:ext cx="5029200" cy="2743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4663440" cy="274320"/>
          </a:xfrm>
          <a:prstGeom prst="rect">
            <a:avLst/>
          </a:prstGeom>
          <a:noFill/>
        </p:spPr>
        <p:txBody>
          <a:bodyPr wrap="square">
            <a:spAutoFit/>
          </a:bodyPr>
          <a:lstStyle/>
          <a:p>
            <a:pPr algn="l">
              <a:defRPr sz="1400" b="1">
                <a:solidFill>
                  <a:srgbClr val="3B82F6"/>
                </a:solidFill>
                <a:latin typeface="Segoe UI"/>
              </a:defRPr>
            </a:pPr>
            <a:r>
              <a:t>Five Scaling Layers</a:t>
            </a:r>
          </a:p>
        </p:txBody>
      </p:sp>
      <p:sp>
        <p:nvSpPr>
          <p:cNvPr id="5" name="TextBox 4"/>
          <p:cNvSpPr txBox="1"/>
          <p:nvPr/>
        </p:nvSpPr>
        <p:spPr>
          <a:xfrm>
            <a:off x="914400" y="1554480"/>
            <a:ext cx="4663440" cy="2103120"/>
          </a:xfrm>
          <a:prstGeom prst="rect">
            <a:avLst/>
          </a:prstGeom>
          <a:noFill/>
        </p:spPr>
        <p:txBody>
          <a:bodyPr wrap="square">
            <a:spAutoFit/>
          </a:bodyPr>
          <a:lstStyle/>
          <a:p>
            <a:pPr>
              <a:spcAft>
                <a:spcPts val="400"/>
              </a:spcAft>
              <a:defRPr sz="1000" b="0">
                <a:solidFill>
                  <a:srgbClr val="CBD5E1"/>
                </a:solidFill>
                <a:latin typeface="Segoe UI"/>
              </a:defRPr>
            </a:pPr>
            <a:r>
              <a:t>API edge: Usage plans — basic 10 rps, standard 50, premium 500</a:t>
            </a:r>
          </a:p>
          <a:p>
            <a:pPr>
              <a:spcAft>
                <a:spcPts val="400"/>
              </a:spcAft>
              <a:defRPr sz="1000" b="0">
                <a:solidFill>
                  <a:srgbClr val="CBD5E1"/>
                </a:solidFill>
                <a:latin typeface="Segoe UI"/>
              </a:defRPr>
            </a:pPr>
            <a:r>
              <a:t>Bridge compute: Lambda concurrency — 200 prod, alert at 80%</a:t>
            </a:r>
          </a:p>
          <a:p>
            <a:pPr>
              <a:spcAft>
                <a:spcPts val="400"/>
              </a:spcAft>
              <a:defRPr sz="1000" b="0">
                <a:solidFill>
                  <a:srgbClr val="CBD5E1"/>
                </a:solidFill>
                <a:latin typeface="Segoe UI"/>
              </a:defRPr>
            </a:pPr>
            <a:r>
              <a:t>Agent runtime: AgentCore auto-scaling, per-account quota</a:t>
            </a:r>
          </a:p>
          <a:p>
            <a:pPr>
              <a:spcAft>
                <a:spcPts val="400"/>
              </a:spcAft>
              <a:defRPr sz="1000" b="0">
                <a:solidFill>
                  <a:srgbClr val="CBD5E1"/>
                </a:solidFill>
                <a:latin typeface="Segoe UI"/>
              </a:defRPr>
            </a:pPr>
            <a:r>
              <a:t>Data plane: DynamoDB mixed capacity, jitter on hot partitions</a:t>
            </a:r>
          </a:p>
          <a:p>
            <a:pPr>
              <a:spcAft>
                <a:spcPts val="400"/>
              </a:spcAft>
              <a:defRPr sz="1000" b="0">
                <a:solidFill>
                  <a:srgbClr val="CBD5E1"/>
                </a:solidFill>
                <a:latin typeface="Segoe UI"/>
              </a:defRPr>
            </a:pPr>
            <a:r>
              <a:t>Account topology: Single → tier-split → per-tenant at 70% quota</a:t>
            </a:r>
          </a:p>
        </p:txBody>
      </p:sp>
      <p:sp>
        <p:nvSpPr>
          <p:cNvPr id="6" name="Rectangle 5"/>
          <p:cNvSpPr/>
          <p:nvPr/>
        </p:nvSpPr>
        <p:spPr>
          <a:xfrm>
            <a:off x="6217920" y="1097280"/>
            <a:ext cx="5212080" cy="5029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188720"/>
            <a:ext cx="4846320" cy="274320"/>
          </a:xfrm>
          <a:prstGeom prst="rect">
            <a:avLst/>
          </a:prstGeom>
          <a:noFill/>
        </p:spPr>
        <p:txBody>
          <a:bodyPr wrap="square">
            <a:spAutoFit/>
          </a:bodyPr>
          <a:lstStyle/>
          <a:p>
            <a:pPr algn="l">
              <a:defRPr sz="1400" b="1">
                <a:solidFill>
                  <a:srgbClr val="EF4444"/>
                </a:solidFill>
                <a:latin typeface="Segoe UI"/>
              </a:defRPr>
            </a:pPr>
            <a:r>
              <a:t>Ten Documented Failure Modes</a:t>
            </a:r>
          </a:p>
        </p:txBody>
      </p:sp>
      <p:sp>
        <p:nvSpPr>
          <p:cNvPr id="8" name="TextBox 7"/>
          <p:cNvSpPr txBox="1"/>
          <p:nvPr/>
        </p:nvSpPr>
        <p:spPr>
          <a:xfrm>
            <a:off x="6400800" y="1554480"/>
            <a:ext cx="4846320" cy="4572000"/>
          </a:xfrm>
          <a:prstGeom prst="rect">
            <a:avLst/>
          </a:prstGeom>
          <a:noFill/>
        </p:spPr>
        <p:txBody>
          <a:bodyPr wrap="square">
            <a:spAutoFit/>
          </a:bodyPr>
          <a:lstStyle/>
          <a:p>
            <a:pPr>
              <a:spcAft>
                <a:spcPts val="400"/>
              </a:spcAft>
              <a:defRPr sz="1000" b="0">
                <a:solidFill>
                  <a:srgbClr val="CBD5E1"/>
                </a:solidFill>
                <a:latin typeface="Segoe UI"/>
              </a:defRPr>
            </a:pPr>
            <a:r>
              <a:t>FM-1: Runtime region unavailable → RUNBOOK-001 failover</a:t>
            </a:r>
          </a:p>
          <a:p>
            <a:pPr>
              <a:spcAft>
                <a:spcPts val="400"/>
              </a:spcAft>
              <a:defRPr sz="1000" b="0">
                <a:solidFill>
                  <a:srgbClr val="CBD5E1"/>
                </a:solidFill>
                <a:latin typeface="Segoe UI"/>
              </a:defRPr>
            </a:pPr>
            <a:r>
              <a:t>FM-2: Authoriser cold start spike → provisioned concurrency</a:t>
            </a:r>
          </a:p>
          <a:p>
            <a:pPr>
              <a:spcAft>
                <a:spcPts val="400"/>
              </a:spcAft>
              <a:defRPr sz="1000" b="0">
                <a:solidFill>
                  <a:srgbClr val="CBD5E1"/>
                </a:solidFill>
                <a:latin typeface="Segoe UI"/>
              </a:defRPr>
            </a:pPr>
            <a:r>
              <a:t>FM-3: Secrets Manager throttle → /tmp cache by design</a:t>
            </a:r>
          </a:p>
          <a:p>
            <a:pPr>
              <a:spcAft>
                <a:spcPts val="400"/>
              </a:spcAft>
              <a:defRPr sz="1000" b="0">
                <a:solidFill>
                  <a:srgbClr val="CBD5E1"/>
                </a:solidFill>
                <a:latin typeface="Segoe UI"/>
              </a:defRPr>
            </a:pPr>
            <a:r>
              <a:t>FM-4: DynamoDB hot partition → jitter suffix on SK</a:t>
            </a:r>
          </a:p>
          <a:p>
            <a:pPr>
              <a:spcAft>
                <a:spcPts val="400"/>
              </a:spcAft>
              <a:defRPr sz="1000" b="0">
                <a:solidFill>
                  <a:srgbClr val="CBD5E1"/>
                </a:solidFill>
                <a:latin typeface="Segoe UI"/>
              </a:defRPr>
            </a:pPr>
            <a:r>
              <a:t>FM-5: Bridge Lambda timeout → 16-min matched timeout</a:t>
            </a:r>
          </a:p>
          <a:p>
            <a:pPr>
              <a:spcAft>
                <a:spcPts val="400"/>
              </a:spcAft>
              <a:defRPr sz="1000" b="0">
                <a:solidFill>
                  <a:srgbClr val="CBD5E1"/>
                </a:solidFill>
                <a:latin typeface="Segoe UI"/>
              </a:defRPr>
            </a:pPr>
            <a:r>
              <a:t>FM-6: Interceptor retry storm → idempotency key + DLQ</a:t>
            </a:r>
          </a:p>
          <a:p>
            <a:pPr>
              <a:spcAft>
                <a:spcPts val="400"/>
              </a:spcAft>
              <a:defRPr sz="1000" b="0">
                <a:solidFill>
                  <a:srgbClr val="CBD5E1"/>
                </a:solidFill>
                <a:latin typeface="Segoe UI"/>
              </a:defRPr>
            </a:pPr>
            <a:r>
              <a:t>FM-7: Memory unavailable → graceful degradation</a:t>
            </a:r>
          </a:p>
          <a:p>
            <a:pPr>
              <a:spcAft>
                <a:spcPts val="400"/>
              </a:spcAft>
              <a:defRPr sz="1000" b="0">
                <a:solidFill>
                  <a:srgbClr val="CBD5E1"/>
                </a:solidFill>
                <a:latin typeface="Segoe UI"/>
              </a:defRPr>
            </a:pPr>
            <a:r>
              <a:t>FM-8: Quota exhausted → native 429 by design</a:t>
            </a:r>
          </a:p>
          <a:p>
            <a:pPr>
              <a:spcAft>
                <a:spcPts val="400"/>
              </a:spcAft>
              <a:defRPr sz="1000" b="0">
                <a:solidFill>
                  <a:srgbClr val="CBD5E1"/>
                </a:solidFill>
                <a:latin typeface="Segoe UI"/>
              </a:defRPr>
            </a:pPr>
            <a:r>
              <a:t>FM-9: DLQ arrival → RUNBOOK-005 investigation</a:t>
            </a:r>
          </a:p>
          <a:p>
            <a:pPr>
              <a:spcAft>
                <a:spcPts val="400"/>
              </a:spcAft>
              <a:defRPr sz="1000" b="0">
                <a:solidFill>
                  <a:srgbClr val="CBD5E1"/>
                </a:solidFill>
                <a:latin typeface="Segoe UI"/>
              </a:defRPr>
            </a:pPr>
            <a:r>
              <a:t>FM-10: Billing failure → RUNBOOK-006 suspension</a:t>
            </a:r>
          </a:p>
        </p:txBody>
      </p:sp>
      <p:sp>
        <p:nvSpPr>
          <p:cNvPr id="9" name="Rectangle 8"/>
          <p:cNvSpPr/>
          <p:nvPr/>
        </p:nvSpPr>
        <p:spPr>
          <a:xfrm>
            <a:off x="731520" y="4114800"/>
            <a:ext cx="502920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06240"/>
            <a:ext cx="4663440" cy="274320"/>
          </a:xfrm>
          <a:prstGeom prst="rect">
            <a:avLst/>
          </a:prstGeom>
          <a:noFill/>
        </p:spPr>
        <p:txBody>
          <a:bodyPr wrap="square">
            <a:spAutoFit/>
          </a:bodyPr>
          <a:lstStyle/>
          <a:p>
            <a:pPr algn="l">
              <a:defRPr sz="1400" b="1">
                <a:solidFill>
                  <a:srgbClr val="14B8A6"/>
                </a:solidFill>
                <a:latin typeface="Segoe UI"/>
              </a:defRPr>
            </a:pPr>
            <a:r>
              <a:t>Operational Posture</a:t>
            </a:r>
          </a:p>
        </p:txBody>
      </p:sp>
      <p:sp>
        <p:nvSpPr>
          <p:cNvPr id="11" name="TextBox 10"/>
          <p:cNvSpPr txBox="1"/>
          <p:nvPr/>
        </p:nvSpPr>
        <p:spPr>
          <a:xfrm>
            <a:off x="914400" y="4572000"/>
            <a:ext cx="4663440" cy="1371600"/>
          </a:xfrm>
          <a:prstGeom prst="rect">
            <a:avLst/>
          </a:prstGeom>
          <a:noFill/>
        </p:spPr>
        <p:txBody>
          <a:bodyPr wrap="square">
            <a:spAutoFit/>
          </a:bodyPr>
          <a:lstStyle/>
          <a:p>
            <a:pPr>
              <a:spcAft>
                <a:spcPts val="400"/>
              </a:spcAft>
              <a:defRPr sz="1200" b="0">
                <a:solidFill>
                  <a:srgbClr val="FFFFFF"/>
                </a:solidFill>
                <a:latin typeface="Segoe UI"/>
              </a:defRPr>
            </a:pPr>
            <a:r>
              <a:t>Designed for a small team, no developers on call.</a:t>
            </a:r>
          </a:p>
          <a:p>
            <a:pPr>
              <a:spcAft>
                <a:spcPts val="400"/>
              </a:spcAft>
              <a:defRPr sz="1200" b="0">
                <a:solidFill>
                  <a:srgbClr val="FFFFFF"/>
                </a:solidFill>
                <a:latin typeface="Segoe UI"/>
              </a:defRPr>
            </a:pPr>
            <a:r>
              <a:t>Every operation via make targets and ops CLI.</a:t>
            </a:r>
          </a:p>
          <a:p>
            <a:pPr>
              <a:spcAft>
                <a:spcPts val="400"/>
              </a:spcAft>
              <a:defRPr sz="1200" b="0">
                <a:solidFill>
                  <a:srgbClr val="FFFFFF"/>
                </a:solidFill>
                <a:latin typeface="Segoe UI"/>
              </a:defRPr>
            </a:pPr>
            <a:r>
              <a:t>AWS console not required for routine operations.</a:t>
            </a:r>
          </a:p>
          <a:p>
            <a:pPr>
              <a:spcAft>
                <a:spcPts val="400"/>
              </a:spcAft>
              <a:defRPr sz="1200" b="0">
                <a:solidFill>
                  <a:srgbClr val="FFFFFF"/>
                </a:solidFill>
                <a:latin typeface="Segoe UI"/>
              </a:defRPr>
            </a:pPr>
            <a:r>
              <a:t>Ten runbooks covering bootstrap through rollback.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Delivery Plan and Milestones</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500" b="0">
                <a:solidFill>
                  <a:srgbClr val="CBD5E1"/>
                </a:solidFill>
                <a:latin typeface="Segoe UI"/>
              </a:defRPr>
            </a:pPr>
            <a:r>
              <a:t>Eight phases, gated progression. Operability before features.</a:t>
            </a:r>
          </a:p>
        </p:txBody>
      </p:sp>
      <p:sp>
        <p:nvSpPr>
          <p:cNvPr id="4" name="Rectangle 3"/>
          <p:cNvSpPr/>
          <p:nvPr/>
        </p:nvSpPr>
        <p:spPr>
          <a:xfrm>
            <a:off x="731520" y="1554480"/>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97280" cy="228600"/>
          </a:xfrm>
          <a:prstGeom prst="rect">
            <a:avLst/>
          </a:prstGeom>
          <a:noFill/>
        </p:spPr>
        <p:txBody>
          <a:bodyPr wrap="square">
            <a:spAutoFit/>
          </a:bodyPr>
          <a:lstStyle/>
          <a:p>
            <a:pPr algn="l">
              <a:defRPr sz="1000" b="1">
                <a:solidFill>
                  <a:srgbClr val="14B8A6"/>
                </a:solidFill>
                <a:latin typeface="Segoe UI"/>
              </a:defRPr>
            </a:pPr>
            <a:r>
              <a:t>Phase 0</a:t>
            </a:r>
          </a:p>
        </p:txBody>
      </p:sp>
      <p:sp>
        <p:nvSpPr>
          <p:cNvPr id="6" name="TextBox 5"/>
          <p:cNvSpPr txBox="1"/>
          <p:nvPr/>
        </p:nvSpPr>
        <p:spPr>
          <a:xfrm>
            <a:off x="2103120" y="1600200"/>
            <a:ext cx="1828800" cy="228600"/>
          </a:xfrm>
          <a:prstGeom prst="rect">
            <a:avLst/>
          </a:prstGeom>
          <a:noFill/>
        </p:spPr>
        <p:txBody>
          <a:bodyPr wrap="square">
            <a:spAutoFit/>
          </a:bodyPr>
          <a:lstStyle/>
          <a:p>
            <a:pPr algn="l">
              <a:defRPr sz="1100" b="1">
                <a:solidFill>
                  <a:srgbClr val="FFFFFF"/>
                </a:solidFill>
                <a:latin typeface="Segoe UI"/>
              </a:defRPr>
            </a:pPr>
            <a:r>
              <a:t>Foundation</a:t>
            </a:r>
          </a:p>
        </p:txBody>
      </p:sp>
      <p:sp>
        <p:nvSpPr>
          <p:cNvPr id="7" name="TextBox 6"/>
          <p:cNvSpPr txBox="1"/>
          <p:nvPr/>
        </p:nvSpPr>
        <p:spPr>
          <a:xfrm>
            <a:off x="4023360" y="1600200"/>
            <a:ext cx="5029200" cy="228600"/>
          </a:xfrm>
          <a:prstGeom prst="rect">
            <a:avLst/>
          </a:prstGeom>
          <a:noFill/>
        </p:spPr>
        <p:txBody>
          <a:bodyPr wrap="square">
            <a:spAutoFit/>
          </a:bodyPr>
          <a:lstStyle/>
          <a:p>
            <a:pPr algn="l">
              <a:defRPr sz="1000" b="0">
                <a:solidFill>
                  <a:srgbClr val="CBD5E1"/>
                </a:solidFill>
                <a:latin typeface="Segoe UI"/>
              </a:defRPr>
            </a:pPr>
            <a:r>
              <a:t>ADRs, runbooks, architectural docs</a:t>
            </a:r>
          </a:p>
        </p:txBody>
      </p:sp>
      <p:sp>
        <p:nvSpPr>
          <p:cNvPr id="8" name="TextBox 7"/>
          <p:cNvSpPr txBox="1"/>
          <p:nvPr/>
        </p:nvSpPr>
        <p:spPr>
          <a:xfrm>
            <a:off x="9326880" y="1600200"/>
            <a:ext cx="1920240" cy="228600"/>
          </a:xfrm>
          <a:prstGeom prst="rect">
            <a:avLst/>
          </a:prstGeom>
          <a:noFill/>
        </p:spPr>
        <p:txBody>
          <a:bodyPr wrap="square">
            <a:spAutoFit/>
          </a:bodyPr>
          <a:lstStyle/>
          <a:p>
            <a:pPr algn="l">
              <a:defRPr sz="1000" b="0">
                <a:solidFill>
                  <a:srgbClr val="14B8A6"/>
                </a:solidFill>
                <a:latin typeface="Segoe UI"/>
              </a:defRPr>
            </a:pPr>
            <a:r>
              <a:t>Complete</a:t>
            </a:r>
          </a:p>
        </p:txBody>
      </p:sp>
      <p:sp>
        <p:nvSpPr>
          <p:cNvPr id="9" name="Rectangle 8"/>
          <p:cNvSpPr/>
          <p:nvPr/>
        </p:nvSpPr>
        <p:spPr>
          <a:xfrm>
            <a:off x="731520" y="2130552"/>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76272"/>
            <a:ext cx="1097280" cy="228600"/>
          </a:xfrm>
          <a:prstGeom prst="rect">
            <a:avLst/>
          </a:prstGeom>
          <a:noFill/>
        </p:spPr>
        <p:txBody>
          <a:bodyPr wrap="square">
            <a:spAutoFit/>
          </a:bodyPr>
          <a:lstStyle/>
          <a:p>
            <a:pPr algn="l">
              <a:defRPr sz="1000" b="1">
                <a:solidFill>
                  <a:srgbClr val="3B82F6"/>
                </a:solidFill>
                <a:latin typeface="Segoe UI"/>
              </a:defRPr>
            </a:pPr>
            <a:r>
              <a:t>Phase 1</a:t>
            </a:r>
          </a:p>
        </p:txBody>
      </p:sp>
      <p:sp>
        <p:nvSpPr>
          <p:cNvPr id="11" name="TextBox 10"/>
          <p:cNvSpPr txBox="1"/>
          <p:nvPr/>
        </p:nvSpPr>
        <p:spPr>
          <a:xfrm>
            <a:off x="2103120" y="2176272"/>
            <a:ext cx="1828800" cy="228600"/>
          </a:xfrm>
          <a:prstGeom prst="rect">
            <a:avLst/>
          </a:prstGeom>
          <a:noFill/>
        </p:spPr>
        <p:txBody>
          <a:bodyPr wrap="square">
            <a:spAutoFit/>
          </a:bodyPr>
          <a:lstStyle/>
          <a:p>
            <a:pPr algn="l">
              <a:defRPr sz="1100" b="1">
                <a:solidFill>
                  <a:srgbClr val="FFFFFF"/>
                </a:solidFill>
                <a:latin typeface="Segoe UI"/>
              </a:defRPr>
            </a:pPr>
            <a:r>
              <a:t>Data Contracts</a:t>
            </a:r>
          </a:p>
        </p:txBody>
      </p:sp>
      <p:sp>
        <p:nvSpPr>
          <p:cNvPr id="12" name="TextBox 11"/>
          <p:cNvSpPr txBox="1"/>
          <p:nvPr/>
        </p:nvSpPr>
        <p:spPr>
          <a:xfrm>
            <a:off x="4023360" y="2176272"/>
            <a:ext cx="5029200" cy="228600"/>
          </a:xfrm>
          <a:prstGeom prst="rect">
            <a:avLst/>
          </a:prstGeom>
          <a:noFill/>
        </p:spPr>
        <p:txBody>
          <a:bodyPr wrap="square">
            <a:spAutoFit/>
          </a:bodyPr>
          <a:lstStyle/>
          <a:p>
            <a:pPr algn="l">
              <a:defRPr sz="1000" b="0">
                <a:solidFill>
                  <a:srgbClr val="CBD5E1"/>
                </a:solidFill>
                <a:latin typeface="Segoe UI"/>
              </a:defRPr>
            </a:pPr>
            <a:r>
              <a:t>DynamoDB schemas, OpenAPI spec, data-access-lib</a:t>
            </a:r>
          </a:p>
        </p:txBody>
      </p:sp>
      <p:sp>
        <p:nvSpPr>
          <p:cNvPr id="13" name="TextBox 12"/>
          <p:cNvSpPr txBox="1"/>
          <p:nvPr/>
        </p:nvSpPr>
        <p:spPr>
          <a:xfrm>
            <a:off x="9326880" y="2176272"/>
            <a:ext cx="1920240" cy="228600"/>
          </a:xfrm>
          <a:prstGeom prst="rect">
            <a:avLst/>
          </a:prstGeom>
          <a:noFill/>
        </p:spPr>
        <p:txBody>
          <a:bodyPr wrap="square">
            <a:spAutoFit/>
          </a:bodyPr>
          <a:lstStyle/>
          <a:p>
            <a:pPr algn="l">
              <a:defRPr sz="1000" b="0">
                <a:solidFill>
                  <a:srgbClr val="3B82F6"/>
                </a:solidFill>
                <a:latin typeface="Segoe UI"/>
              </a:defRPr>
            </a:pPr>
            <a:r>
              <a:t>Gate: written sign-off</a:t>
            </a:r>
          </a:p>
        </p:txBody>
      </p:sp>
      <p:sp>
        <p:nvSpPr>
          <p:cNvPr id="14" name="Rectangle 13"/>
          <p:cNvSpPr/>
          <p:nvPr/>
        </p:nvSpPr>
        <p:spPr>
          <a:xfrm>
            <a:off x="731520" y="2706624"/>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752344"/>
            <a:ext cx="1097280" cy="228600"/>
          </a:xfrm>
          <a:prstGeom prst="rect">
            <a:avLst/>
          </a:prstGeom>
          <a:noFill/>
        </p:spPr>
        <p:txBody>
          <a:bodyPr wrap="square">
            <a:spAutoFit/>
          </a:bodyPr>
          <a:lstStyle/>
          <a:p>
            <a:pPr algn="l">
              <a:defRPr sz="1000" b="1">
                <a:solidFill>
                  <a:srgbClr val="3B82F6"/>
                </a:solidFill>
                <a:latin typeface="Segoe UI"/>
              </a:defRPr>
            </a:pPr>
            <a:r>
              <a:t>Phase 2</a:t>
            </a:r>
          </a:p>
        </p:txBody>
      </p:sp>
      <p:sp>
        <p:nvSpPr>
          <p:cNvPr id="16" name="TextBox 15"/>
          <p:cNvSpPr txBox="1"/>
          <p:nvPr/>
        </p:nvSpPr>
        <p:spPr>
          <a:xfrm>
            <a:off x="2103120" y="2752344"/>
            <a:ext cx="1828800" cy="228600"/>
          </a:xfrm>
          <a:prstGeom prst="rect">
            <a:avLst/>
          </a:prstGeom>
          <a:noFill/>
        </p:spPr>
        <p:txBody>
          <a:bodyPr wrap="square">
            <a:spAutoFit/>
          </a:bodyPr>
          <a:lstStyle/>
          <a:p>
            <a:pPr algn="l">
              <a:defRPr sz="1100" b="1">
                <a:solidFill>
                  <a:srgbClr val="FFFFFF"/>
                </a:solidFill>
                <a:latin typeface="Segoe UI"/>
              </a:defRPr>
            </a:pPr>
            <a:r>
              <a:t>Local Dev Loop</a:t>
            </a:r>
          </a:p>
        </p:txBody>
      </p:sp>
      <p:sp>
        <p:nvSpPr>
          <p:cNvPr id="17" name="TextBox 16"/>
          <p:cNvSpPr txBox="1"/>
          <p:nvPr/>
        </p:nvSpPr>
        <p:spPr>
          <a:xfrm>
            <a:off x="4023360" y="2752344"/>
            <a:ext cx="5029200" cy="228600"/>
          </a:xfrm>
          <a:prstGeom prst="rect">
            <a:avLst/>
          </a:prstGeom>
          <a:noFill/>
        </p:spPr>
        <p:txBody>
          <a:bodyPr wrap="square">
            <a:spAutoFit/>
          </a:bodyPr>
          <a:lstStyle/>
          <a:p>
            <a:pPr algn="l">
              <a:defRPr sz="1000" b="0">
                <a:solidFill>
                  <a:srgbClr val="CBD5E1"/>
                </a:solidFill>
                <a:latin typeface="Segoe UI"/>
              </a:defRPr>
            </a:pPr>
            <a:r>
              <a:t>make dev + test-unit pass, echo agent e2e</a:t>
            </a:r>
          </a:p>
        </p:txBody>
      </p:sp>
      <p:sp>
        <p:nvSpPr>
          <p:cNvPr id="18" name="TextBox 17"/>
          <p:cNvSpPr txBox="1"/>
          <p:nvPr/>
        </p:nvSpPr>
        <p:spPr>
          <a:xfrm>
            <a:off x="9326880" y="2752344"/>
            <a:ext cx="1920240" cy="228600"/>
          </a:xfrm>
          <a:prstGeom prst="rect">
            <a:avLst/>
          </a:prstGeom>
          <a:noFill/>
        </p:spPr>
        <p:txBody>
          <a:bodyPr wrap="square">
            <a:spAutoFit/>
          </a:bodyPr>
          <a:lstStyle/>
          <a:p>
            <a:pPr algn="l">
              <a:defRPr sz="1000" b="0">
                <a:solidFill>
                  <a:srgbClr val="3B82F6"/>
                </a:solidFill>
                <a:latin typeface="Segoe UI"/>
              </a:defRPr>
            </a:pPr>
            <a:r>
              <a:t>M1</a:t>
            </a:r>
          </a:p>
        </p:txBody>
      </p:sp>
      <p:sp>
        <p:nvSpPr>
          <p:cNvPr id="19" name="Rectangle 18"/>
          <p:cNvSpPr/>
          <p:nvPr/>
        </p:nvSpPr>
        <p:spPr>
          <a:xfrm>
            <a:off x="731520" y="3282696"/>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328415"/>
            <a:ext cx="1097280" cy="228600"/>
          </a:xfrm>
          <a:prstGeom prst="rect">
            <a:avLst/>
          </a:prstGeom>
          <a:noFill/>
        </p:spPr>
        <p:txBody>
          <a:bodyPr wrap="square">
            <a:spAutoFit/>
          </a:bodyPr>
          <a:lstStyle/>
          <a:p>
            <a:pPr algn="l">
              <a:defRPr sz="1000" b="1">
                <a:solidFill>
                  <a:srgbClr val="3B82F6"/>
                </a:solidFill>
                <a:latin typeface="Segoe UI"/>
              </a:defRPr>
            </a:pPr>
            <a:r>
              <a:t>Phase 3</a:t>
            </a:r>
          </a:p>
        </p:txBody>
      </p:sp>
      <p:sp>
        <p:nvSpPr>
          <p:cNvPr id="21" name="TextBox 20"/>
          <p:cNvSpPr txBox="1"/>
          <p:nvPr/>
        </p:nvSpPr>
        <p:spPr>
          <a:xfrm>
            <a:off x="2103120" y="3328415"/>
            <a:ext cx="1828800" cy="228600"/>
          </a:xfrm>
          <a:prstGeom prst="rect">
            <a:avLst/>
          </a:prstGeom>
          <a:noFill/>
        </p:spPr>
        <p:txBody>
          <a:bodyPr wrap="square">
            <a:spAutoFit/>
          </a:bodyPr>
          <a:lstStyle/>
          <a:p>
            <a:pPr algn="l">
              <a:defRPr sz="1100" b="1">
                <a:solidFill>
                  <a:srgbClr val="FFFFFF"/>
                </a:solidFill>
                <a:latin typeface="Segoe UI"/>
              </a:defRPr>
            </a:pPr>
            <a:r>
              <a:t>CDK Infrastructure</a:t>
            </a:r>
          </a:p>
        </p:txBody>
      </p:sp>
      <p:sp>
        <p:nvSpPr>
          <p:cNvPr id="22" name="TextBox 21"/>
          <p:cNvSpPr txBox="1"/>
          <p:nvPr/>
        </p:nvSpPr>
        <p:spPr>
          <a:xfrm>
            <a:off x="4023360" y="3328415"/>
            <a:ext cx="5029200" cy="228600"/>
          </a:xfrm>
          <a:prstGeom prst="rect">
            <a:avLst/>
          </a:prstGeom>
          <a:noFill/>
        </p:spPr>
        <p:txBody>
          <a:bodyPr wrap="square">
            <a:spAutoFit/>
          </a:bodyPr>
          <a:lstStyle/>
          <a:p>
            <a:pPr algn="l">
              <a:defRPr sz="1000" b="0">
                <a:solidFill>
                  <a:srgbClr val="CBD5E1"/>
                </a:solidFill>
                <a:latin typeface="Segoe UI"/>
              </a:defRPr>
            </a:pPr>
            <a:r>
              <a:t>All 6 stacks deploy, cfn-guard passes</a:t>
            </a:r>
          </a:p>
        </p:txBody>
      </p:sp>
      <p:sp>
        <p:nvSpPr>
          <p:cNvPr id="23" name="TextBox 22"/>
          <p:cNvSpPr txBox="1"/>
          <p:nvPr/>
        </p:nvSpPr>
        <p:spPr>
          <a:xfrm>
            <a:off x="9326880" y="3328415"/>
            <a:ext cx="1920240" cy="228600"/>
          </a:xfrm>
          <a:prstGeom prst="rect">
            <a:avLst/>
          </a:prstGeom>
          <a:noFill/>
        </p:spPr>
        <p:txBody>
          <a:bodyPr wrap="square">
            <a:spAutoFit/>
          </a:bodyPr>
          <a:lstStyle/>
          <a:p>
            <a:pPr algn="l">
              <a:defRPr sz="1000" b="0">
                <a:solidFill>
                  <a:srgbClr val="3B82F6"/>
                </a:solidFill>
                <a:latin typeface="Segoe UI"/>
              </a:defRPr>
            </a:pPr>
            <a:r>
              <a:t>M2</a:t>
            </a:r>
          </a:p>
        </p:txBody>
      </p:sp>
      <p:sp>
        <p:nvSpPr>
          <p:cNvPr id="24" name="Rectangle 23"/>
          <p:cNvSpPr/>
          <p:nvPr/>
        </p:nvSpPr>
        <p:spPr>
          <a:xfrm>
            <a:off x="731520" y="3858768"/>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904487"/>
            <a:ext cx="1097280" cy="228600"/>
          </a:xfrm>
          <a:prstGeom prst="rect">
            <a:avLst/>
          </a:prstGeom>
          <a:noFill/>
        </p:spPr>
        <p:txBody>
          <a:bodyPr wrap="square">
            <a:spAutoFit/>
          </a:bodyPr>
          <a:lstStyle/>
          <a:p>
            <a:pPr algn="l">
              <a:defRPr sz="1000" b="1">
                <a:solidFill>
                  <a:srgbClr val="3B82F6"/>
                </a:solidFill>
                <a:latin typeface="Segoe UI"/>
              </a:defRPr>
            </a:pPr>
            <a:r>
              <a:t>Phase 4</a:t>
            </a:r>
          </a:p>
        </p:txBody>
      </p:sp>
      <p:sp>
        <p:nvSpPr>
          <p:cNvPr id="26" name="TextBox 25"/>
          <p:cNvSpPr txBox="1"/>
          <p:nvPr/>
        </p:nvSpPr>
        <p:spPr>
          <a:xfrm>
            <a:off x="2103120" y="3904487"/>
            <a:ext cx="1828800" cy="228600"/>
          </a:xfrm>
          <a:prstGeom prst="rect">
            <a:avLst/>
          </a:prstGeom>
          <a:noFill/>
        </p:spPr>
        <p:txBody>
          <a:bodyPr wrap="square">
            <a:spAutoFit/>
          </a:bodyPr>
          <a:lstStyle/>
          <a:p>
            <a:pPr algn="l">
              <a:defRPr sz="1100" b="1">
                <a:solidFill>
                  <a:srgbClr val="FFFFFF"/>
                </a:solidFill>
                <a:latin typeface="Segoe UI"/>
              </a:defRPr>
            </a:pPr>
            <a:r>
              <a:t>Bootstrap &amp; Ops</a:t>
            </a:r>
          </a:p>
        </p:txBody>
      </p:sp>
      <p:sp>
        <p:nvSpPr>
          <p:cNvPr id="27" name="TextBox 26"/>
          <p:cNvSpPr txBox="1"/>
          <p:nvPr/>
        </p:nvSpPr>
        <p:spPr>
          <a:xfrm>
            <a:off x="4023360" y="3904487"/>
            <a:ext cx="5029200" cy="228600"/>
          </a:xfrm>
          <a:prstGeom prst="rect">
            <a:avLst/>
          </a:prstGeom>
          <a:noFill/>
        </p:spPr>
        <p:txBody>
          <a:bodyPr wrap="square">
            <a:spAutoFit/>
          </a:bodyPr>
          <a:lstStyle/>
          <a:p>
            <a:pPr algn="l">
              <a:defRPr sz="1000" b="0">
                <a:solidFill>
                  <a:srgbClr val="CBD5E1"/>
                </a:solidFill>
                <a:latin typeface="Segoe UI"/>
              </a:defRPr>
            </a:pPr>
            <a:r>
              <a:t>Operator bootstraps env, all runbooks tested</a:t>
            </a:r>
          </a:p>
        </p:txBody>
      </p:sp>
      <p:sp>
        <p:nvSpPr>
          <p:cNvPr id="28" name="TextBox 27"/>
          <p:cNvSpPr txBox="1"/>
          <p:nvPr/>
        </p:nvSpPr>
        <p:spPr>
          <a:xfrm>
            <a:off x="9326880" y="3904487"/>
            <a:ext cx="1920240" cy="228600"/>
          </a:xfrm>
          <a:prstGeom prst="rect">
            <a:avLst/>
          </a:prstGeom>
          <a:noFill/>
        </p:spPr>
        <p:txBody>
          <a:bodyPr wrap="square">
            <a:spAutoFit/>
          </a:bodyPr>
          <a:lstStyle/>
          <a:p>
            <a:pPr algn="l">
              <a:defRPr sz="1000" b="0">
                <a:solidFill>
                  <a:srgbClr val="3B82F6"/>
                </a:solidFill>
                <a:latin typeface="Segoe UI"/>
              </a:defRPr>
            </a:pPr>
            <a:r>
              <a:t>M3</a:t>
            </a:r>
          </a:p>
        </p:txBody>
      </p:sp>
      <p:sp>
        <p:nvSpPr>
          <p:cNvPr id="29" name="Rectangle 28"/>
          <p:cNvSpPr/>
          <p:nvPr/>
        </p:nvSpPr>
        <p:spPr>
          <a:xfrm>
            <a:off x="731520" y="4434840"/>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480559"/>
            <a:ext cx="1097280" cy="228600"/>
          </a:xfrm>
          <a:prstGeom prst="rect">
            <a:avLst/>
          </a:prstGeom>
          <a:noFill/>
        </p:spPr>
        <p:txBody>
          <a:bodyPr wrap="square">
            <a:spAutoFit/>
          </a:bodyPr>
          <a:lstStyle/>
          <a:p>
            <a:pPr algn="l">
              <a:defRPr sz="1000" b="1">
                <a:solidFill>
                  <a:srgbClr val="3B82F6"/>
                </a:solidFill>
                <a:latin typeface="Segoe UI"/>
              </a:defRPr>
            </a:pPr>
            <a:r>
              <a:t>Phase 5</a:t>
            </a:r>
          </a:p>
        </p:txBody>
      </p:sp>
      <p:sp>
        <p:nvSpPr>
          <p:cNvPr id="31" name="TextBox 30"/>
          <p:cNvSpPr txBox="1"/>
          <p:nvPr/>
        </p:nvSpPr>
        <p:spPr>
          <a:xfrm>
            <a:off x="2103120" y="4480559"/>
            <a:ext cx="1828800" cy="228600"/>
          </a:xfrm>
          <a:prstGeom prst="rect">
            <a:avLst/>
          </a:prstGeom>
          <a:noFill/>
        </p:spPr>
        <p:txBody>
          <a:bodyPr wrap="square">
            <a:spAutoFit/>
          </a:bodyPr>
          <a:lstStyle/>
          <a:p>
            <a:pPr algn="l">
              <a:defRPr sz="1100" b="1">
                <a:solidFill>
                  <a:srgbClr val="FFFFFF"/>
                </a:solidFill>
                <a:latin typeface="Segoe UI"/>
              </a:defRPr>
            </a:pPr>
            <a:r>
              <a:t>Agent DX</a:t>
            </a:r>
          </a:p>
        </p:txBody>
      </p:sp>
      <p:sp>
        <p:nvSpPr>
          <p:cNvPr id="32" name="TextBox 31"/>
          <p:cNvSpPr txBox="1"/>
          <p:nvPr/>
        </p:nvSpPr>
        <p:spPr>
          <a:xfrm>
            <a:off x="4023360" y="4480559"/>
            <a:ext cx="5029200" cy="228600"/>
          </a:xfrm>
          <a:prstGeom prst="rect">
            <a:avLst/>
          </a:prstGeom>
          <a:noFill/>
        </p:spPr>
        <p:txBody>
          <a:bodyPr wrap="square">
            <a:spAutoFit/>
          </a:bodyPr>
          <a:lstStyle/>
          <a:p>
            <a:pPr algn="l">
              <a:defRPr sz="1000" b="0">
                <a:solidFill>
                  <a:srgbClr val="CBD5E1"/>
                </a:solidFill>
                <a:latin typeface="Segoe UI"/>
              </a:defRPr>
            </a:pPr>
            <a:r>
              <a:t>Push &lt;30s warm, pipeline e2e, tier filtering</a:t>
            </a:r>
          </a:p>
        </p:txBody>
      </p:sp>
      <p:sp>
        <p:nvSpPr>
          <p:cNvPr id="33" name="TextBox 32"/>
          <p:cNvSpPr txBox="1"/>
          <p:nvPr/>
        </p:nvSpPr>
        <p:spPr>
          <a:xfrm>
            <a:off x="9326880" y="4480559"/>
            <a:ext cx="1920240" cy="228600"/>
          </a:xfrm>
          <a:prstGeom prst="rect">
            <a:avLst/>
          </a:prstGeom>
          <a:noFill/>
        </p:spPr>
        <p:txBody>
          <a:bodyPr wrap="square">
            <a:spAutoFit/>
          </a:bodyPr>
          <a:lstStyle/>
          <a:p>
            <a:pPr algn="l">
              <a:defRPr sz="1000" b="0">
                <a:solidFill>
                  <a:srgbClr val="3B82F6"/>
                </a:solidFill>
                <a:latin typeface="Segoe UI"/>
              </a:defRPr>
            </a:pPr>
            <a:r>
              <a:t>M4</a:t>
            </a:r>
          </a:p>
        </p:txBody>
      </p:sp>
      <p:sp>
        <p:nvSpPr>
          <p:cNvPr id="34" name="Rectangle 33"/>
          <p:cNvSpPr/>
          <p:nvPr/>
        </p:nvSpPr>
        <p:spPr>
          <a:xfrm>
            <a:off x="731520" y="5010912"/>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056631"/>
            <a:ext cx="1097280" cy="228600"/>
          </a:xfrm>
          <a:prstGeom prst="rect">
            <a:avLst/>
          </a:prstGeom>
          <a:noFill/>
        </p:spPr>
        <p:txBody>
          <a:bodyPr wrap="square">
            <a:spAutoFit/>
          </a:bodyPr>
          <a:lstStyle/>
          <a:p>
            <a:pPr algn="l">
              <a:defRPr sz="1000" b="1">
                <a:solidFill>
                  <a:srgbClr val="F59E0B"/>
                </a:solidFill>
                <a:latin typeface="Segoe UI"/>
              </a:defRPr>
            </a:pPr>
            <a:r>
              <a:t>Phase 6</a:t>
            </a:r>
          </a:p>
        </p:txBody>
      </p:sp>
      <p:sp>
        <p:nvSpPr>
          <p:cNvPr id="36" name="TextBox 35"/>
          <p:cNvSpPr txBox="1"/>
          <p:nvPr/>
        </p:nvSpPr>
        <p:spPr>
          <a:xfrm>
            <a:off x="2103120" y="5056631"/>
            <a:ext cx="1828800" cy="228600"/>
          </a:xfrm>
          <a:prstGeom prst="rect">
            <a:avLst/>
          </a:prstGeom>
          <a:noFill/>
        </p:spPr>
        <p:txBody>
          <a:bodyPr wrap="square">
            <a:spAutoFit/>
          </a:bodyPr>
          <a:lstStyle/>
          <a:p>
            <a:pPr algn="l">
              <a:defRPr sz="1100" b="1">
                <a:solidFill>
                  <a:srgbClr val="FFFFFF"/>
                </a:solidFill>
                <a:latin typeface="Segoe UI"/>
              </a:defRPr>
            </a:pPr>
            <a:r>
              <a:t>SPA Frontend</a:t>
            </a:r>
          </a:p>
        </p:txBody>
      </p:sp>
      <p:sp>
        <p:nvSpPr>
          <p:cNvPr id="37" name="TextBox 36"/>
          <p:cNvSpPr txBox="1"/>
          <p:nvPr/>
        </p:nvSpPr>
        <p:spPr>
          <a:xfrm>
            <a:off x="4023360" y="5056631"/>
            <a:ext cx="5029200" cy="228600"/>
          </a:xfrm>
          <a:prstGeom prst="rect">
            <a:avLst/>
          </a:prstGeom>
          <a:noFill/>
        </p:spPr>
        <p:txBody>
          <a:bodyPr wrap="square">
            <a:spAutoFit/>
          </a:bodyPr>
          <a:lstStyle/>
          <a:p>
            <a:pPr algn="l">
              <a:defRPr sz="1000" b="0">
                <a:solidFill>
                  <a:srgbClr val="CBD5E1"/>
                </a:solidFill>
                <a:latin typeface="Segoe UI"/>
              </a:defRPr>
            </a:pPr>
            <a:r>
              <a:t>Entra login, streaming, async in browser</a:t>
            </a:r>
          </a:p>
        </p:txBody>
      </p:sp>
      <p:sp>
        <p:nvSpPr>
          <p:cNvPr id="38" name="TextBox 37"/>
          <p:cNvSpPr txBox="1"/>
          <p:nvPr/>
        </p:nvSpPr>
        <p:spPr>
          <a:xfrm>
            <a:off x="9326880" y="5056631"/>
            <a:ext cx="1920240" cy="228600"/>
          </a:xfrm>
          <a:prstGeom prst="rect">
            <a:avLst/>
          </a:prstGeom>
          <a:noFill/>
        </p:spPr>
        <p:txBody>
          <a:bodyPr wrap="square">
            <a:spAutoFit/>
          </a:bodyPr>
          <a:lstStyle/>
          <a:p>
            <a:pPr algn="l">
              <a:defRPr sz="1000" b="0">
                <a:solidFill>
                  <a:srgbClr val="F59E0B"/>
                </a:solidFill>
                <a:latin typeface="Segoe UI"/>
              </a:defRPr>
            </a:pPr>
            <a:r>
              <a:t>M5</a:t>
            </a:r>
          </a:p>
        </p:txBody>
      </p:sp>
      <p:sp>
        <p:nvSpPr>
          <p:cNvPr id="39" name="Rectangle 38"/>
          <p:cNvSpPr/>
          <p:nvPr/>
        </p:nvSpPr>
        <p:spPr>
          <a:xfrm>
            <a:off x="731520" y="5586983"/>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5632703"/>
            <a:ext cx="1097280" cy="228600"/>
          </a:xfrm>
          <a:prstGeom prst="rect">
            <a:avLst/>
          </a:prstGeom>
          <a:noFill/>
        </p:spPr>
        <p:txBody>
          <a:bodyPr wrap="square">
            <a:spAutoFit/>
          </a:bodyPr>
          <a:lstStyle/>
          <a:p>
            <a:pPr algn="l">
              <a:defRPr sz="1000" b="1">
                <a:solidFill>
                  <a:srgbClr val="F59E0B"/>
                </a:solidFill>
                <a:latin typeface="Segoe UI"/>
              </a:defRPr>
            </a:pPr>
            <a:r>
              <a:t>Phase 7</a:t>
            </a:r>
          </a:p>
        </p:txBody>
      </p:sp>
      <p:sp>
        <p:nvSpPr>
          <p:cNvPr id="41" name="TextBox 40"/>
          <p:cNvSpPr txBox="1"/>
          <p:nvPr/>
        </p:nvSpPr>
        <p:spPr>
          <a:xfrm>
            <a:off x="2103120" y="5632703"/>
            <a:ext cx="1828800" cy="228600"/>
          </a:xfrm>
          <a:prstGeom prst="rect">
            <a:avLst/>
          </a:prstGeom>
          <a:noFill/>
        </p:spPr>
        <p:txBody>
          <a:bodyPr wrap="square">
            <a:spAutoFit/>
          </a:bodyPr>
          <a:lstStyle/>
          <a:p>
            <a:pPr algn="l">
              <a:defRPr sz="1100" b="1">
                <a:solidFill>
                  <a:srgbClr val="FFFFFF"/>
                </a:solidFill>
                <a:latin typeface="Segoe UI"/>
              </a:defRPr>
            </a:pPr>
            <a:r>
              <a:t>CI/CD Pipeline</a:t>
            </a:r>
          </a:p>
        </p:txBody>
      </p:sp>
      <p:sp>
        <p:nvSpPr>
          <p:cNvPr id="42" name="TextBox 41"/>
          <p:cNvSpPr txBox="1"/>
          <p:nvPr/>
        </p:nvSpPr>
        <p:spPr>
          <a:xfrm>
            <a:off x="4023360" y="5632703"/>
            <a:ext cx="5029200" cy="228600"/>
          </a:xfrm>
          <a:prstGeom prst="rect">
            <a:avLst/>
          </a:prstGeom>
          <a:noFill/>
        </p:spPr>
        <p:txBody>
          <a:bodyPr wrap="square">
            <a:spAutoFit/>
          </a:bodyPr>
          <a:lstStyle/>
          <a:p>
            <a:pPr algn="l">
              <a:defRPr sz="1000" b="0">
                <a:solidFill>
                  <a:srgbClr val="CBD5E1"/>
                </a:solidFill>
                <a:latin typeface="Segoe UI"/>
              </a:defRPr>
            </a:pPr>
            <a:r>
              <a:t>Full pipeline, auto-rollback verified</a:t>
            </a:r>
          </a:p>
        </p:txBody>
      </p:sp>
      <p:sp>
        <p:nvSpPr>
          <p:cNvPr id="43" name="TextBox 42"/>
          <p:cNvSpPr txBox="1"/>
          <p:nvPr/>
        </p:nvSpPr>
        <p:spPr>
          <a:xfrm>
            <a:off x="9326880" y="5632703"/>
            <a:ext cx="1920240" cy="228600"/>
          </a:xfrm>
          <a:prstGeom prst="rect">
            <a:avLst/>
          </a:prstGeom>
          <a:noFill/>
        </p:spPr>
        <p:txBody>
          <a:bodyPr wrap="square">
            <a:spAutoFit/>
          </a:bodyPr>
          <a:lstStyle/>
          <a:p>
            <a:pPr algn="l">
              <a:defRPr sz="1000" b="0">
                <a:solidFill>
                  <a:srgbClr val="F59E0B"/>
                </a:solidFill>
                <a:latin typeface="Segoe UI"/>
              </a:defRPr>
            </a:pPr>
            <a:r>
              <a:t>M6</a:t>
            </a:r>
          </a:p>
        </p:txBody>
      </p:sp>
      <p:sp>
        <p:nvSpPr>
          <p:cNvPr id="44" name="Rectangle 43"/>
          <p:cNvSpPr/>
          <p:nvPr/>
        </p:nvSpPr>
        <p:spPr>
          <a:xfrm>
            <a:off x="731520" y="6163055"/>
            <a:ext cx="10698480" cy="53035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6208775"/>
            <a:ext cx="1097280" cy="228600"/>
          </a:xfrm>
          <a:prstGeom prst="rect">
            <a:avLst/>
          </a:prstGeom>
          <a:noFill/>
        </p:spPr>
        <p:txBody>
          <a:bodyPr wrap="square">
            <a:spAutoFit/>
          </a:bodyPr>
          <a:lstStyle/>
          <a:p>
            <a:pPr algn="l">
              <a:defRPr sz="1000" b="1">
                <a:solidFill>
                  <a:srgbClr val="F59E0B"/>
                </a:solidFill>
                <a:latin typeface="Segoe UI"/>
              </a:defRPr>
            </a:pPr>
            <a:r>
              <a:t>Phase 8</a:t>
            </a:r>
          </a:p>
        </p:txBody>
      </p:sp>
      <p:sp>
        <p:nvSpPr>
          <p:cNvPr id="46" name="TextBox 45"/>
          <p:cNvSpPr txBox="1"/>
          <p:nvPr/>
        </p:nvSpPr>
        <p:spPr>
          <a:xfrm>
            <a:off x="2103120" y="6208775"/>
            <a:ext cx="1828800" cy="228600"/>
          </a:xfrm>
          <a:prstGeom prst="rect">
            <a:avLst/>
          </a:prstGeom>
          <a:noFill/>
        </p:spPr>
        <p:txBody>
          <a:bodyPr wrap="square">
            <a:spAutoFit/>
          </a:bodyPr>
          <a:lstStyle/>
          <a:p>
            <a:pPr algn="l">
              <a:defRPr sz="1100" b="1">
                <a:solidFill>
                  <a:srgbClr val="FFFFFF"/>
                </a:solidFill>
                <a:latin typeface="Segoe UI"/>
              </a:defRPr>
            </a:pPr>
            <a:r>
              <a:t>Async Agents</a:t>
            </a:r>
          </a:p>
        </p:txBody>
      </p:sp>
      <p:sp>
        <p:nvSpPr>
          <p:cNvPr id="47" name="TextBox 46"/>
          <p:cNvSpPr txBox="1"/>
          <p:nvPr/>
        </p:nvSpPr>
        <p:spPr>
          <a:xfrm>
            <a:off x="4023360" y="6208775"/>
            <a:ext cx="5029200" cy="228600"/>
          </a:xfrm>
          <a:prstGeom prst="rect">
            <a:avLst/>
          </a:prstGeom>
          <a:noFill/>
        </p:spPr>
        <p:txBody>
          <a:bodyPr wrap="square">
            <a:spAutoFit/>
          </a:bodyPr>
          <a:lstStyle/>
          <a:p>
            <a:pPr algn="l">
              <a:defRPr sz="1000" b="0">
                <a:solidFill>
                  <a:srgbClr val="CBD5E1"/>
                </a:solidFill>
                <a:latin typeface="Segoe UI"/>
              </a:defRPr>
            </a:pPr>
            <a:r>
              <a:t>8-hour agent, webhook + poll delivery</a:t>
            </a:r>
          </a:p>
        </p:txBody>
      </p:sp>
      <p:sp>
        <p:nvSpPr>
          <p:cNvPr id="48" name="TextBox 47"/>
          <p:cNvSpPr txBox="1"/>
          <p:nvPr/>
        </p:nvSpPr>
        <p:spPr>
          <a:xfrm>
            <a:off x="9326880" y="6208775"/>
            <a:ext cx="1920240" cy="228600"/>
          </a:xfrm>
          <a:prstGeom prst="rect">
            <a:avLst/>
          </a:prstGeom>
          <a:noFill/>
        </p:spPr>
        <p:txBody>
          <a:bodyPr wrap="square">
            <a:spAutoFit/>
          </a:bodyPr>
          <a:lstStyle/>
          <a:p>
            <a:pPr algn="l">
              <a:defRPr sz="1000" b="0">
                <a:solidFill>
                  <a:srgbClr val="F59E0B"/>
                </a:solidFill>
                <a:latin typeface="Segoe UI"/>
              </a:defRPr>
            </a:pPr>
            <a:r>
              <a:t>M7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731520" y="365760"/>
            <a:ext cx="10515600" cy="548640"/>
          </a:xfrm>
          <a:prstGeom prst="rect">
            <a:avLst/>
          </a:prstGeom>
          <a:noFill/>
        </p:spPr>
        <p:txBody>
          <a:bodyPr wrap="square">
            <a:spAutoFit/>
          </a:bodyPr>
          <a:lstStyle/>
          <a:p>
            <a:pPr algn="l">
              <a:defRPr sz="3200" b="1">
                <a:solidFill>
                  <a:srgbClr val="FFFFFF"/>
                </a:solidFill>
                <a:latin typeface="Segoe UI"/>
              </a:defRPr>
            </a:pPr>
            <a:r>
              <a:t>Technology Stack and Architecture Decisions</a:t>
            </a:r>
          </a:p>
        </p:txBody>
      </p:sp>
      <p:sp>
        <p:nvSpPr>
          <p:cNvPr id="3" name="Rectangle 2"/>
          <p:cNvSpPr/>
          <p:nvPr/>
        </p:nvSpPr>
        <p:spPr>
          <a:xfrm>
            <a:off x="731520" y="1097280"/>
            <a:ext cx="502920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4663440" cy="274320"/>
          </a:xfrm>
          <a:prstGeom prst="rect">
            <a:avLst/>
          </a:prstGeom>
          <a:noFill/>
        </p:spPr>
        <p:txBody>
          <a:bodyPr wrap="square">
            <a:spAutoFit/>
          </a:bodyPr>
          <a:lstStyle/>
          <a:p>
            <a:pPr algn="l">
              <a:defRPr sz="1400" b="1">
                <a:solidFill>
                  <a:srgbClr val="3B82F6"/>
                </a:solidFill>
                <a:latin typeface="Segoe UI"/>
              </a:defRPr>
            </a:pPr>
            <a:r>
              <a:t>Technology Stack</a:t>
            </a:r>
          </a:p>
        </p:txBody>
      </p:sp>
      <p:sp>
        <p:nvSpPr>
          <p:cNvPr id="5" name="TextBox 4"/>
          <p:cNvSpPr txBox="1"/>
          <p:nvPr/>
        </p:nvSpPr>
        <p:spPr>
          <a:xfrm>
            <a:off x="914400" y="1554480"/>
            <a:ext cx="4663440" cy="4572000"/>
          </a:xfrm>
          <a:prstGeom prst="rect">
            <a:avLst/>
          </a:prstGeom>
          <a:noFill/>
        </p:spPr>
        <p:txBody>
          <a:bodyPr wrap="square">
            <a:spAutoFit/>
          </a:bodyPr>
          <a:lstStyle/>
          <a:p>
            <a:pPr>
              <a:spcAft>
                <a:spcPts val="400"/>
              </a:spcAft>
              <a:defRPr sz="1000" b="0">
                <a:solidFill>
                  <a:srgbClr val="CBD5E1"/>
                </a:solidFill>
                <a:latin typeface="Segoe UI"/>
              </a:defRPr>
            </a:pPr>
            <a:r>
              <a:t>Agent runtime: AgentCore Runtime arm64 Firecracker</a:t>
            </a:r>
          </a:p>
          <a:p>
            <a:pPr>
              <a:spcAft>
                <a:spcPts val="400"/>
              </a:spcAft>
              <a:defRPr sz="1000" b="0">
                <a:solidFill>
                  <a:srgbClr val="CBD5E1"/>
                </a:solidFill>
                <a:latin typeface="Segoe UI"/>
              </a:defRPr>
            </a:pPr>
            <a:r>
              <a:t>Human auth: Entra ID OIDC via MSAL.js</a:t>
            </a:r>
          </a:p>
          <a:p>
            <a:pPr>
              <a:spcAft>
                <a:spcPts val="400"/>
              </a:spcAft>
              <a:defRPr sz="1000" b="0">
                <a:solidFill>
                  <a:srgbClr val="CBD5E1"/>
                </a:solidFill>
                <a:latin typeface="Segoe UI"/>
              </a:defRPr>
            </a:pPr>
            <a:r>
              <a:t>Machine auth: AWS SigV4</a:t>
            </a:r>
          </a:p>
          <a:p>
            <a:pPr>
              <a:spcAft>
                <a:spcPts val="400"/>
              </a:spcAft>
              <a:defRPr sz="1000" b="0">
                <a:solidFill>
                  <a:srgbClr val="CBD5E1"/>
                </a:solidFill>
                <a:latin typeface="Segoe UI"/>
              </a:defRPr>
            </a:pPr>
            <a:r>
              <a:t>Platform IaC: AWS CDK strict TypeScript</a:t>
            </a:r>
          </a:p>
          <a:p>
            <a:pPr>
              <a:spcAft>
                <a:spcPts val="400"/>
              </a:spcAft>
              <a:defRPr sz="1000" b="0">
                <a:solidFill>
                  <a:srgbClr val="CBD5E1"/>
                </a:solidFill>
                <a:latin typeface="Segoe UI"/>
              </a:defRPr>
            </a:pPr>
            <a:r>
              <a:t>Account IaC: Terraform HCL</a:t>
            </a:r>
          </a:p>
          <a:p>
            <a:pPr>
              <a:spcAft>
                <a:spcPts val="400"/>
              </a:spcAft>
              <a:defRPr sz="1000" b="0">
                <a:solidFill>
                  <a:srgbClr val="CBD5E1"/>
                </a:solidFill>
                <a:latin typeface="Segoe UI"/>
              </a:defRPr>
            </a:pPr>
            <a:r>
              <a:t>Python tooling: uv + pyproject.toml</a:t>
            </a:r>
          </a:p>
          <a:p>
            <a:pPr>
              <a:spcAft>
                <a:spcPts val="400"/>
              </a:spcAft>
              <a:defRPr sz="1000" b="0">
                <a:solidFill>
                  <a:srgbClr val="CBD5E1"/>
                </a:solidFill>
                <a:latin typeface="Segoe UI"/>
              </a:defRPr>
            </a:pPr>
            <a:r>
              <a:t>Logging: aws-lambda-powertools (JSON)</a:t>
            </a:r>
          </a:p>
          <a:p>
            <a:pPr>
              <a:spcAft>
                <a:spcPts val="400"/>
              </a:spcAft>
              <a:defRPr sz="1000" b="0">
                <a:solidFill>
                  <a:srgbClr val="CBD5E1"/>
                </a:solidFill>
                <a:latin typeface="Segoe UI"/>
              </a:defRPr>
            </a:pPr>
            <a:r>
              <a:t>CDK testing: Jest + cdk-assertions</a:t>
            </a:r>
          </a:p>
          <a:p>
            <a:pPr>
              <a:spcAft>
                <a:spcPts val="400"/>
              </a:spcAft>
              <a:defRPr sz="1000" b="0">
                <a:solidFill>
                  <a:srgbClr val="CBD5E1"/>
                </a:solidFill>
                <a:latin typeface="Segoe UI"/>
              </a:defRPr>
            </a:pPr>
            <a:r>
              <a:t>Python testing: pytest + LocalStack</a:t>
            </a:r>
          </a:p>
          <a:p>
            <a:pPr>
              <a:spcAft>
                <a:spcPts val="400"/>
              </a:spcAft>
              <a:defRPr sz="1000" b="0">
                <a:solidFill>
                  <a:srgbClr val="CBD5E1"/>
                </a:solidFill>
                <a:latin typeface="Segoe UI"/>
              </a:defRPr>
            </a:pPr>
            <a:r>
              <a:t>Secrets: Secrets Manager (30d rotation)</a:t>
            </a:r>
          </a:p>
          <a:p>
            <a:pPr>
              <a:spcAft>
                <a:spcPts val="400"/>
              </a:spcAft>
              <a:defRPr sz="1000" b="0">
                <a:solidFill>
                  <a:srgbClr val="CBD5E1"/>
                </a:solidFill>
                <a:latin typeface="Segoe UI"/>
              </a:defRPr>
            </a:pPr>
            <a:r>
              <a:t>Config: SSM Parameter Store</a:t>
            </a:r>
          </a:p>
          <a:p>
            <a:pPr>
              <a:spcAft>
                <a:spcPts val="400"/>
              </a:spcAft>
              <a:defRPr sz="1000" b="0">
                <a:solidFill>
                  <a:srgbClr val="CBD5E1"/>
                </a:solidFill>
                <a:latin typeface="Segoe UI"/>
              </a:defRPr>
            </a:pPr>
            <a:r>
              <a:t>Async: AgentCore add/complete_async_task</a:t>
            </a:r>
          </a:p>
          <a:p>
            <a:pPr>
              <a:spcAft>
                <a:spcPts val="400"/>
              </a:spcAft>
              <a:defRPr sz="1000" b="0">
                <a:solidFill>
                  <a:srgbClr val="CBD5E1"/>
                </a:solidFill>
                <a:latin typeface="Segoe UI"/>
              </a:defRPr>
            </a:pPr>
            <a:r>
              <a:t>Observability: OTel + CloudWatch</a:t>
            </a:r>
          </a:p>
          <a:p>
            <a:pPr>
              <a:spcAft>
                <a:spcPts val="400"/>
              </a:spcAft>
              <a:defRPr sz="1000" b="0">
                <a:solidFill>
                  <a:srgbClr val="CBD5E1"/>
                </a:solidFill>
                <a:latin typeface="Segoe UI"/>
              </a:defRPr>
            </a:pPr>
            <a:r>
              <a:t>SPA: React + Vite + Tailwind + shadcn/ui</a:t>
            </a:r>
          </a:p>
          <a:p>
            <a:pPr>
              <a:spcAft>
                <a:spcPts val="400"/>
              </a:spcAft>
              <a:defRPr sz="1000" b="0">
                <a:solidFill>
                  <a:srgbClr val="CBD5E1"/>
                </a:solidFill>
                <a:latin typeface="Segoe UI"/>
              </a:defRPr>
            </a:pPr>
            <a:r>
              <a:t>Gateway policy: Cedar language</a:t>
            </a:r>
          </a:p>
          <a:p>
            <a:pPr>
              <a:spcAft>
                <a:spcPts val="400"/>
              </a:spcAft>
              <a:defRPr sz="1000" b="0">
                <a:solidFill>
                  <a:srgbClr val="CBD5E1"/>
                </a:solidFill>
                <a:latin typeface="Segoe UI"/>
              </a:defRPr>
            </a:pPr>
            <a:r>
              <a:t>Deployment: GitLab CI/CD + protected envs</a:t>
            </a:r>
          </a:p>
        </p:txBody>
      </p:sp>
      <p:sp>
        <p:nvSpPr>
          <p:cNvPr id="6" name="Rectangle 5"/>
          <p:cNvSpPr/>
          <p:nvPr/>
        </p:nvSpPr>
        <p:spPr>
          <a:xfrm>
            <a:off x="6217920" y="1097280"/>
            <a:ext cx="5212080" cy="5303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188720"/>
            <a:ext cx="4846320" cy="274320"/>
          </a:xfrm>
          <a:prstGeom prst="rect">
            <a:avLst/>
          </a:prstGeom>
          <a:noFill/>
        </p:spPr>
        <p:txBody>
          <a:bodyPr wrap="square">
            <a:spAutoFit/>
          </a:bodyPr>
          <a:lstStyle/>
          <a:p>
            <a:pPr algn="l">
              <a:defRPr sz="1400" b="1">
                <a:solidFill>
                  <a:srgbClr val="14B8A6"/>
                </a:solidFill>
                <a:latin typeface="Segoe UI"/>
              </a:defRPr>
            </a:pPr>
            <a:r>
              <a:t>Sixteen Architecture Decision Records</a:t>
            </a:r>
          </a:p>
        </p:txBody>
      </p:sp>
      <p:sp>
        <p:nvSpPr>
          <p:cNvPr id="8" name="TextBox 7"/>
          <p:cNvSpPr txBox="1"/>
          <p:nvPr/>
        </p:nvSpPr>
        <p:spPr>
          <a:xfrm>
            <a:off x="6400800" y="1554480"/>
            <a:ext cx="4846320" cy="4572000"/>
          </a:xfrm>
          <a:prstGeom prst="rect">
            <a:avLst/>
          </a:prstGeom>
          <a:noFill/>
        </p:spPr>
        <p:txBody>
          <a:bodyPr wrap="square">
            <a:spAutoFit/>
          </a:bodyPr>
          <a:lstStyle/>
          <a:p>
            <a:pPr>
              <a:spcAft>
                <a:spcPts val="400"/>
              </a:spcAft>
              <a:defRPr sz="1000" b="0">
                <a:solidFill>
                  <a:srgbClr val="CBD5E1"/>
                </a:solidFill>
                <a:latin typeface="Segoe UI"/>
              </a:defRPr>
            </a:pPr>
            <a:r>
              <a:t>ADR-001: AgentCore Runtime over ECS/K8s/Lambda</a:t>
            </a:r>
          </a:p>
          <a:p>
            <a:pPr>
              <a:spcAft>
                <a:spcPts val="400"/>
              </a:spcAft>
              <a:defRPr sz="1000" b="0">
                <a:solidFill>
                  <a:srgbClr val="CBD5E1"/>
                </a:solidFill>
                <a:latin typeface="Segoe UI"/>
              </a:defRPr>
            </a:pPr>
            <a:r>
              <a:t>ADR-002: Entra ID, not Cognito</a:t>
            </a:r>
          </a:p>
          <a:p>
            <a:pPr>
              <a:spcAft>
                <a:spcPts val="400"/>
              </a:spcAft>
              <a:defRPr sz="1000" b="0">
                <a:solidFill>
                  <a:srgbClr val="CBD5E1"/>
                </a:solidFill>
                <a:latin typeface="Segoe UI"/>
              </a:defRPr>
            </a:pPr>
            <a:r>
              <a:t>ADR-003: REST API Gateway, not HTTP API</a:t>
            </a:r>
          </a:p>
          <a:p>
            <a:pPr>
              <a:spcAft>
                <a:spcPts val="400"/>
              </a:spcAft>
              <a:defRPr sz="1000" b="0">
                <a:solidFill>
                  <a:srgbClr val="CBD5E1"/>
                </a:solidFill>
                <a:latin typeface="Segoe UI"/>
              </a:defRPr>
            </a:pPr>
            <a:r>
              <a:t>ADR-004: Act-on-behalf, not impersonation</a:t>
            </a:r>
          </a:p>
          <a:p>
            <a:pPr>
              <a:spcAft>
                <a:spcPts val="400"/>
              </a:spcAft>
              <a:defRPr sz="1000" b="0">
                <a:solidFill>
                  <a:srgbClr val="CBD5E1"/>
                </a:solidFill>
                <a:latin typeface="Segoe UI"/>
              </a:defRPr>
            </a:pPr>
            <a:r>
              <a:t>ADR-005: Declared invocation mode, never inferred</a:t>
            </a:r>
          </a:p>
          <a:p>
            <a:pPr>
              <a:spcAft>
                <a:spcPts val="400"/>
              </a:spcAft>
              <a:defRPr sz="1000" b="0">
                <a:solidFill>
                  <a:srgbClr val="CBD5E1"/>
                </a:solidFill>
                <a:latin typeface="Segoe UI"/>
              </a:defRPr>
            </a:pPr>
            <a:r>
              <a:t>ADR-006: uv + pyproject.toml for Python</a:t>
            </a:r>
          </a:p>
          <a:p>
            <a:pPr>
              <a:spcAft>
                <a:spcPts val="400"/>
              </a:spcAft>
              <a:defRPr sz="1000" b="0">
                <a:solidFill>
                  <a:srgbClr val="CBD5E1"/>
                </a:solidFill>
                <a:latin typeface="Segoe UI"/>
              </a:defRPr>
            </a:pPr>
            <a:r>
              <a:t>ADR-007: CDK for platform, Terraform for accounts</a:t>
            </a:r>
          </a:p>
          <a:p>
            <a:pPr>
              <a:spcAft>
                <a:spcPts val="400"/>
              </a:spcAft>
              <a:defRPr sz="1000" b="0">
                <a:solidFill>
                  <a:srgbClr val="CBD5E1"/>
                </a:solidFill>
                <a:latin typeface="Segoe UI"/>
              </a:defRPr>
            </a:pPr>
            <a:r>
              <a:t>ADR-008: Zip deployment default, container fallback</a:t>
            </a:r>
          </a:p>
          <a:p>
            <a:pPr>
              <a:spcAft>
                <a:spcPts val="400"/>
              </a:spcAft>
              <a:defRPr sz="1000" b="0">
                <a:solidFill>
                  <a:srgbClr val="CBD5E1"/>
                </a:solidFill>
                <a:latin typeface="Segoe UI"/>
              </a:defRPr>
            </a:pPr>
            <a:r>
              <a:t>ADR-009: London home, Dublin runtime (zigzag)</a:t>
            </a:r>
          </a:p>
          <a:p>
            <a:pPr>
              <a:spcAft>
                <a:spcPts val="400"/>
              </a:spcAft>
              <a:defRPr sz="1000" b="0">
                <a:solidFill>
                  <a:srgbClr val="CBD5E1"/>
                </a:solidFill>
                <a:latin typeface="Segoe UI"/>
              </a:defRPr>
            </a:pPr>
            <a:r>
              <a:t>ADR-010: Native AgentCore async</a:t>
            </a:r>
          </a:p>
          <a:p>
            <a:pPr>
              <a:spcAft>
                <a:spcPts val="400"/>
              </a:spcAft>
              <a:defRPr sz="1000" b="0">
                <a:solidFill>
                  <a:srgbClr val="CBD5E1"/>
                </a:solidFill>
                <a:latin typeface="Segoe UI"/>
              </a:defRPr>
            </a:pPr>
            <a:r>
              <a:t>ADR-011: Thin BFF for token refresh</a:t>
            </a:r>
          </a:p>
          <a:p>
            <a:pPr>
              <a:spcAft>
                <a:spcPts val="400"/>
              </a:spcAft>
              <a:defRPr sz="1000" b="0">
                <a:solidFill>
                  <a:srgbClr val="CBD5E1"/>
                </a:solidFill>
                <a:latin typeface="Segoe UI"/>
              </a:defRPr>
            </a:pPr>
            <a:r>
              <a:t>ADR-012: DynamoDB mixed capacity modes</a:t>
            </a:r>
          </a:p>
          <a:p>
            <a:pPr>
              <a:spcAft>
                <a:spcPts val="400"/>
              </a:spcAft>
              <a:defRPr sz="1000" b="0">
                <a:solidFill>
                  <a:srgbClr val="CBD5E1"/>
                </a:solidFill>
                <a:latin typeface="Segoe UI"/>
              </a:defRPr>
            </a:pPr>
            <a:r>
              <a:t>ADR-013: Entra RBAC via roles claim</a:t>
            </a:r>
          </a:p>
          <a:p>
            <a:pPr>
              <a:spcAft>
                <a:spcPts val="400"/>
              </a:spcAft>
              <a:defRPr sz="1000" b="0">
                <a:solidFill>
                  <a:srgbClr val="CBD5E1"/>
                </a:solidFill>
                <a:latin typeface="Segoe UI"/>
              </a:defRPr>
            </a:pPr>
            <a:r>
              <a:t>ADR-014: Minimise VPC-bound services</a:t>
            </a:r>
          </a:p>
          <a:p>
            <a:pPr>
              <a:spcAft>
                <a:spcPts val="400"/>
              </a:spcAft>
              <a:defRPr sz="1000" b="0">
                <a:solidFill>
                  <a:srgbClr val="CBD5E1"/>
                </a:solidFill>
                <a:latin typeface="Segoe UI"/>
              </a:defRPr>
            </a:pPr>
            <a:r>
              <a:t>ADR-015: Control Tower audit flow</a:t>
            </a:r>
          </a:p>
          <a:p>
            <a:pPr>
              <a:spcAft>
                <a:spcPts val="400"/>
              </a:spcAft>
              <a:defRPr sz="1000" b="0">
                <a:solidFill>
                  <a:srgbClr val="CBD5E1"/>
                </a:solidFill>
                <a:latin typeface="Segoe UI"/>
              </a:defRPr>
            </a:pPr>
            <a:r>
              <a:t>ADR-016: Reserved platform internal tenant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